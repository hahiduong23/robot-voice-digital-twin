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62895" cy="2011680"/>
          </a:xfrm>
          <a:prstGeom prst="rect">
            <a:avLst/>
          </a:prstGeom>
          <a:noFill/>
        </p:spPr>
        <p:txBody>
          <a:bodyPr wrap="square">
            <a:spAutoFit/>
          </a:bodyPr>
          <a:lstStyle/>
          <a:p>
            <a:pPr>
              <a:spcAft>
                <a:spcPts val="1200"/>
              </a:spcAft>
              <a:defRPr sz="1300" b="1">
                <a:solidFill>
                  <a:srgbClr val="06B6D4"/>
                </a:solidFill>
                <a:latin typeface="Calibri"/>
              </a:defRPr>
            </a:pPr>
            <a:r>
              <a:t>ADVANCED DEEP LEARNING • END-TO-END PIPELINE ARCHITECTURE</a:t>
            </a:r>
          </a:p>
          <a:p>
            <a:pPr>
              <a:spcAft>
                <a:spcPts val="1400"/>
              </a:spcAft>
              <a:defRPr sz="3600" b="1">
                <a:solidFill>
                  <a:srgbClr val="FFFFFF"/>
                </a:solidFill>
                <a:latin typeface="Arial"/>
              </a:defRPr>
            </a:pPr>
            <a:r>
              <a:t>Real-Time Speech Command Recognition</a:t>
            </a:r>
            <a:br/>
            <a:r>
              <a:t>for Mobile Robot Edge Control</a:t>
            </a:r>
          </a:p>
          <a:p>
            <a:pPr>
              <a:defRPr sz="1800">
                <a:solidFill>
                  <a:srgbClr val="94A3B8"/>
                </a:solidFill>
                <a:latin typeface="Calibri"/>
              </a:defRPr>
            </a:pPr>
            <a:r>
              <a:t>Hệ Thống Nhận Diện Giọng Nói Điều Khiển Robot Di Động Thời Gian Thực Dựa Trên SE_VoiceResNet</a:t>
            </a:r>
          </a:p>
        </p:txBody>
      </p:sp>
      <p:sp>
        <p:nvSpPr>
          <p:cNvPr id="5" name="Rounded Rectangle 4"/>
          <p:cNvSpPr/>
          <p:nvPr/>
        </p:nvSpPr>
        <p:spPr>
          <a:xfrm>
            <a:off x="914400" y="3931920"/>
            <a:ext cx="242316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114800"/>
            <a:ext cx="2057400" cy="1005840"/>
          </a:xfrm>
          <a:prstGeom prst="rect">
            <a:avLst/>
          </a:prstGeom>
          <a:noFill/>
        </p:spPr>
        <p:txBody>
          <a:bodyPr wrap="square">
            <a:spAutoFit/>
          </a:bodyPr>
          <a:lstStyle/>
          <a:p>
            <a:pPr>
              <a:spcAft>
                <a:spcPts val="400"/>
              </a:spcAft>
              <a:defRPr sz="1000" b="1">
                <a:solidFill>
                  <a:srgbClr val="06B6D4"/>
                </a:solidFill>
                <a:latin typeface="Calibri"/>
              </a:defRPr>
            </a:pPr>
            <a:r>
              <a:t>DATASET</a:t>
            </a:r>
          </a:p>
          <a:p>
            <a:pPr>
              <a:spcAft>
                <a:spcPts val="200"/>
              </a:spcAft>
              <a:defRPr sz="1800" b="1">
                <a:solidFill>
                  <a:srgbClr val="FFFFFF"/>
                </a:solidFill>
                <a:latin typeface="Arial"/>
              </a:defRPr>
            </a:pPr>
            <a:r>
              <a:t>1,400 Clean WAVs</a:t>
            </a:r>
          </a:p>
          <a:p>
            <a:pPr>
              <a:defRPr sz="1000">
                <a:solidFill>
                  <a:srgbClr val="94A3B8"/>
                </a:solidFill>
                <a:latin typeface="Calibri"/>
              </a:defRPr>
            </a:pPr>
            <a:r>
              <a:t>7 Classes • 100% Unique</a:t>
            </a:r>
          </a:p>
        </p:txBody>
      </p:sp>
      <p:sp>
        <p:nvSpPr>
          <p:cNvPr id="7" name="Rounded Rectangle 6"/>
          <p:cNvSpPr/>
          <p:nvPr/>
        </p:nvSpPr>
        <p:spPr>
          <a:xfrm>
            <a:off x="3547872" y="3931920"/>
            <a:ext cx="242316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30752" y="4114800"/>
            <a:ext cx="2057400" cy="1005840"/>
          </a:xfrm>
          <a:prstGeom prst="rect">
            <a:avLst/>
          </a:prstGeom>
          <a:noFill/>
        </p:spPr>
        <p:txBody>
          <a:bodyPr wrap="square">
            <a:spAutoFit/>
          </a:bodyPr>
          <a:lstStyle/>
          <a:p>
            <a:pPr>
              <a:spcAft>
                <a:spcPts val="400"/>
              </a:spcAft>
              <a:defRPr sz="1000" b="1">
                <a:solidFill>
                  <a:srgbClr val="06B6D4"/>
                </a:solidFill>
                <a:latin typeface="Calibri"/>
              </a:defRPr>
            </a:pPr>
            <a:r>
              <a:t>ARCHITECTURE</a:t>
            </a:r>
          </a:p>
          <a:p>
            <a:pPr>
              <a:spcAft>
                <a:spcPts val="200"/>
              </a:spcAft>
              <a:defRPr sz="1800" b="1">
                <a:solidFill>
                  <a:srgbClr val="FFFFFF"/>
                </a:solidFill>
                <a:latin typeface="Arial"/>
              </a:defRPr>
            </a:pPr>
            <a:r>
              <a:t>SE_VoiceResNet</a:t>
            </a:r>
          </a:p>
          <a:p>
            <a:pPr>
              <a:defRPr sz="1000">
                <a:solidFill>
                  <a:srgbClr val="94A3B8"/>
                </a:solidFill>
                <a:latin typeface="Calibri"/>
              </a:defRPr>
            </a:pPr>
            <a:r>
              <a:t>Residual + GAP + SE</a:t>
            </a:r>
          </a:p>
        </p:txBody>
      </p:sp>
      <p:sp>
        <p:nvSpPr>
          <p:cNvPr id="9" name="Rounded Rectangle 8"/>
          <p:cNvSpPr/>
          <p:nvPr/>
        </p:nvSpPr>
        <p:spPr>
          <a:xfrm>
            <a:off x="6181344" y="3931920"/>
            <a:ext cx="242316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4114800"/>
            <a:ext cx="2057400" cy="1005840"/>
          </a:xfrm>
          <a:prstGeom prst="rect">
            <a:avLst/>
          </a:prstGeom>
          <a:noFill/>
        </p:spPr>
        <p:txBody>
          <a:bodyPr wrap="square">
            <a:spAutoFit/>
          </a:bodyPr>
          <a:lstStyle/>
          <a:p>
            <a:pPr>
              <a:spcAft>
                <a:spcPts val="400"/>
              </a:spcAft>
              <a:defRPr sz="1000" b="1">
                <a:solidFill>
                  <a:srgbClr val="06B6D4"/>
                </a:solidFill>
                <a:latin typeface="Calibri"/>
              </a:defRPr>
            </a:pPr>
            <a:r>
              <a:t>COMPUTATION</a:t>
            </a:r>
          </a:p>
          <a:p>
            <a:pPr>
              <a:spcAft>
                <a:spcPts val="200"/>
              </a:spcAft>
              <a:defRPr sz="1800" b="1">
                <a:solidFill>
                  <a:srgbClr val="FFFFFF"/>
                </a:solidFill>
                <a:latin typeface="Arial"/>
              </a:defRPr>
            </a:pPr>
            <a:r>
              <a:t>310K Params</a:t>
            </a:r>
          </a:p>
          <a:p>
            <a:pPr>
              <a:defRPr sz="1000">
                <a:solidFill>
                  <a:srgbClr val="94A3B8"/>
                </a:solidFill>
                <a:latin typeface="Calibri"/>
              </a:defRPr>
            </a:pPr>
            <a:r>
              <a:t>14.95 MFLOPs</a:t>
            </a:r>
          </a:p>
        </p:txBody>
      </p:sp>
      <p:sp>
        <p:nvSpPr>
          <p:cNvPr id="11" name="Rounded Rectangle 10"/>
          <p:cNvSpPr/>
          <p:nvPr/>
        </p:nvSpPr>
        <p:spPr>
          <a:xfrm>
            <a:off x="8814816" y="3931920"/>
            <a:ext cx="242316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97696" y="4114800"/>
            <a:ext cx="2057400" cy="1005840"/>
          </a:xfrm>
          <a:prstGeom prst="rect">
            <a:avLst/>
          </a:prstGeom>
          <a:noFill/>
        </p:spPr>
        <p:txBody>
          <a:bodyPr wrap="square">
            <a:spAutoFit/>
          </a:bodyPr>
          <a:lstStyle/>
          <a:p>
            <a:pPr>
              <a:spcAft>
                <a:spcPts val="400"/>
              </a:spcAft>
              <a:defRPr sz="1000" b="1">
                <a:solidFill>
                  <a:srgbClr val="06B6D4"/>
                </a:solidFill>
                <a:latin typeface="Calibri"/>
              </a:defRPr>
            </a:pPr>
            <a:r>
              <a:t>LATENCY</a:t>
            </a:r>
          </a:p>
          <a:p>
            <a:pPr>
              <a:spcAft>
                <a:spcPts val="200"/>
              </a:spcAft>
              <a:defRPr sz="1800" b="1">
                <a:solidFill>
                  <a:srgbClr val="FFFFFF"/>
                </a:solidFill>
                <a:latin typeface="Arial"/>
              </a:defRPr>
            </a:pPr>
            <a:r>
              <a:t>5.48 ms CPU</a:t>
            </a:r>
          </a:p>
          <a:p>
            <a:pPr>
              <a:defRPr sz="1000">
                <a:solidFill>
                  <a:srgbClr val="94A3B8"/>
                </a:solidFill>
                <a:latin typeface="Calibri"/>
              </a:defRPr>
            </a:pPr>
            <a:r>
              <a:t>Real-time Edge Ready</a:t>
            </a:r>
          </a:p>
        </p:txBody>
      </p:sp>
      <p:sp>
        <p:nvSpPr>
          <p:cNvPr id="13" name="TextBox 12"/>
          <p:cNvSpPr txBox="1"/>
          <p:nvPr/>
        </p:nvSpPr>
        <p:spPr>
          <a:xfrm>
            <a:off x="914400" y="5760720"/>
            <a:ext cx="10362895" cy="548640"/>
          </a:xfrm>
          <a:prstGeom prst="rect">
            <a:avLst/>
          </a:prstGeom>
          <a:noFill/>
        </p:spPr>
        <p:txBody>
          <a:bodyPr wrap="none">
            <a:spAutoFit/>
          </a:bodyPr>
          <a:lstStyle/>
          <a:p>
            <a:pPr>
              <a:defRPr sz="1200">
                <a:solidFill>
                  <a:srgbClr val="94A3B8"/>
                </a:solidFill>
                <a:latin typeface="Calibri"/>
              </a:defRPr>
            </a:pPr>
            <a:r>
              <a:t>Tác giả: Nguyễn Hải Dương (Leader) | GVHD: TS. Lê Minh Huy (ICSLab, Trường ĐH Phenikaa)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0: GLOBAL BLUEPRINT</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Sơ Đồ Khối Toàn Diện 5 Tầng Xử Lý Tín Hiệu &amp; Suy Luận</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Kiến trúc End-to-End từ Microphone thu âm đến chấp hành động cơ Robot di động</a:t>
            </a:r>
          </a:p>
        </p:txBody>
      </p:sp>
      <p:pic>
        <p:nvPicPr>
          <p:cNvPr id="5" name="Picture 4" descr="end_to_end_pipeline.png"/>
          <p:cNvPicPr>
            <a:picLocks noChangeAspect="1"/>
          </p:cNvPicPr>
          <p:nvPr/>
        </p:nvPicPr>
        <p:blipFill>
          <a:blip r:embed="rId2"/>
          <a:stretch>
            <a:fillRect/>
          </a:stretch>
        </p:blipFill>
        <p:spPr>
          <a:xfrm>
            <a:off x="731520" y="1645920"/>
            <a:ext cx="10728655" cy="604836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1: AUDIO ACQUISITION &amp; PREPROCESSING</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Thu Nhận Tín Hiệu &amp; Chuẩn Hóa Dữ Liệu Âm Thanh</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Xây dựng tập dữ liệu sạch Data_1400 và kỹ thuật căn chỉnh đối xứng Center-Pad/Crop</a:t>
            </a:r>
          </a:p>
        </p:txBody>
      </p:sp>
      <p:sp>
        <p:nvSpPr>
          <p:cNvPr id="5" name="Rounded Rectangle 4"/>
          <p:cNvSpPr/>
          <p:nvPr/>
        </p:nvSpPr>
        <p:spPr>
          <a:xfrm>
            <a:off x="731520" y="1645920"/>
            <a:ext cx="5120640"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4297680"/>
          </a:xfrm>
          <a:prstGeom prst="rect">
            <a:avLst/>
          </a:prstGeom>
          <a:noFill/>
        </p:spPr>
        <p:txBody>
          <a:bodyPr wrap="square">
            <a:spAutoFit/>
          </a:bodyPr>
          <a:lstStyle/>
          <a:p>
            <a:pPr>
              <a:spcAft>
                <a:spcPts val="800"/>
              </a:spcAft>
              <a:defRPr sz="1200" b="1">
                <a:solidFill>
                  <a:srgbClr val="1E3A8A"/>
                </a:solidFill>
                <a:latin typeface="Arial"/>
              </a:defRPr>
            </a:pPr>
            <a:r>
              <a:t>• Tập dữ liệu chuẩn hóa Data_1400: </a:t>
            </a:r>
            <a:r>
              <a:rPr sz="1200" b="0">
                <a:solidFill>
                  <a:srgbClr val="0F172A"/>
                </a:solidFill>
                <a:latin typeface="Calibri"/>
              </a:rPr>
              <a:t>Gồm đúng 1,400 file âm thanh (.wav) chất lượng cao, cân bằng hoàn hảo 200 mẫu/lớp trên cả 7 khẩu lệnh: KhoiDong, KhongXacDinh, Lui, RePhai, ReTrai, TamDung, Tien.</a:t>
            </a:r>
          </a:p>
          <a:p>
            <a:pPr>
              <a:spcAft>
                <a:spcPts val="800"/>
              </a:spcAft>
              <a:defRPr sz="1200" b="1">
                <a:solidFill>
                  <a:srgbClr val="1E3A8A"/>
                </a:solidFill>
                <a:latin typeface="Arial"/>
              </a:defRPr>
            </a:pPr>
            <a:r>
              <a:t>• Chuẩn hóa thông số âm học: </a:t>
            </a:r>
            <a:r>
              <a:rPr sz="1200" b="0">
                <a:solidFill>
                  <a:srgbClr val="0F172A"/>
                </a:solidFill>
                <a:latin typeface="Calibri"/>
              </a:rPr>
              <a:t>Tất cả file được đồng bộ về chuẩn 16,000 Hz, 16-bit Signed Integer Little-Endian (LEI16), đơn kênh (Mono).</a:t>
            </a:r>
          </a:p>
          <a:p>
            <a:pPr>
              <a:spcAft>
                <a:spcPts val="800"/>
              </a:spcAft>
              <a:defRPr sz="1200" b="1">
                <a:solidFill>
                  <a:srgbClr val="1E3A8A"/>
                </a:solidFill>
                <a:latin typeface="Arial"/>
              </a:defRPr>
            </a:pPr>
            <a:r>
              <a:t>• Loại trừ rò rỉ dữ liệu (0 Duplicate): </a:t>
            </a:r>
            <a:r>
              <a:rPr sz="1200" b="0">
                <a:solidFill>
                  <a:srgbClr val="0F172A"/>
                </a:solidFill>
                <a:latin typeface="Calibri"/>
              </a:rPr>
              <a:t>Kiểm định 100% bằng mã băm MD5 và PCM raw bytes, loại bỏ hoàn toàn hiện tượng trùng lặp từ bộ dữ liệu cũ để tránh độ chính xác ảo.</a:t>
            </a:r>
          </a:p>
          <a:p>
            <a:pPr>
              <a:spcAft>
                <a:spcPts val="800"/>
              </a:spcAft>
              <a:defRPr sz="1200" b="1">
                <a:solidFill>
                  <a:srgbClr val="1E3A8A"/>
                </a:solidFill>
                <a:latin typeface="Arial"/>
              </a:defRPr>
            </a:pPr>
            <a:r>
              <a:t>• Thuật toán căn chỉnh đối xứng Center-Pad/Crop: </a:t>
            </a:r>
            <a:r>
              <a:rPr sz="1200" b="0">
                <a:solidFill>
                  <a:srgbClr val="0F172A"/>
                </a:solidFill>
                <a:latin typeface="Calibri"/>
              </a:rPr>
              <a:t>Cố định thời lượng đúng 2.0 giây (32,000 samples). Bảo toàn trọn vẹn 100% âm tiết của khẩu lệnh ghép và bao quát đầy đủ ngữ cảnh tạp âm môi trường.</a:t>
            </a:r>
          </a:p>
          <a:p>
            <a:pPr>
              <a:spcAft>
                <a:spcPts val="800"/>
              </a:spcAft>
              <a:defRPr sz="1200" b="1">
                <a:solidFill>
                  <a:srgbClr val="1E3A8A"/>
                </a:solidFill>
                <a:latin typeface="Arial"/>
              </a:defRPr>
            </a:pPr>
            <a:r>
              <a:t>• Phân chia tập dữ liệu (Stratified 80:10:10): </a:t>
            </a:r>
            <a:r>
              <a:rPr sz="1200" b="0">
                <a:solidFill>
                  <a:srgbClr val="0F172A"/>
                </a:solidFill>
                <a:latin typeface="Calibri"/>
              </a:rPr>
              <a:t>Train: 1,120 mẫu (160 mẫu/lớp) | Val: 140 mẫu (20 mẫu/lớp) | Test: 140 mẫu (20 mẫu/lớp).</a:t>
            </a:r>
          </a:p>
        </p:txBody>
      </p:sp>
      <p:sp>
        <p:nvSpPr>
          <p:cNvPr id="7" name="Rounded Rectangle 6"/>
          <p:cNvSpPr/>
          <p:nvPr/>
        </p:nvSpPr>
        <p:spPr>
          <a:xfrm>
            <a:off x="6217920" y="164592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aveform_all_classes.png"/>
          <p:cNvPicPr>
            <a:picLocks noChangeAspect="1"/>
          </p:cNvPicPr>
          <p:nvPr/>
        </p:nvPicPr>
        <p:blipFill>
          <a:blip r:embed="rId2"/>
          <a:stretch>
            <a:fillRect/>
          </a:stretch>
        </p:blipFill>
        <p:spPr>
          <a:xfrm>
            <a:off x="6400800" y="1737360"/>
            <a:ext cx="4876495" cy="4480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2: ACOUSTIC PREPROCESSING</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Trích Xuất Log-Mel Spectrogram &amp; Tăng Cường SpecAugment</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Biến đổi tín hiệu 1D sang biểu diễn phổ 2D và chính quy hóa trên miền thời gian - tần số</a:t>
            </a:r>
          </a:p>
        </p:txBody>
      </p:sp>
      <p:sp>
        <p:nvSpPr>
          <p:cNvPr id="5" name="Rounded Rectangle 4"/>
          <p:cNvSpPr/>
          <p:nvPr/>
        </p:nvSpPr>
        <p:spPr>
          <a:xfrm>
            <a:off x="731520" y="1645920"/>
            <a:ext cx="5120640"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4297680"/>
          </a:xfrm>
          <a:prstGeom prst="rect">
            <a:avLst/>
          </a:prstGeom>
          <a:noFill/>
        </p:spPr>
        <p:txBody>
          <a:bodyPr wrap="square">
            <a:spAutoFit/>
          </a:bodyPr>
          <a:lstStyle/>
          <a:p>
            <a:pPr>
              <a:spcAft>
                <a:spcPts val="800"/>
              </a:spcAft>
              <a:defRPr sz="1200" b="1">
                <a:solidFill>
                  <a:srgbClr val="1E3A8A"/>
                </a:solidFill>
                <a:latin typeface="Arial"/>
              </a:defRPr>
            </a:pPr>
            <a:r>
              <a:t>• Biến đổi Fourier ngắn (STFT): </a:t>
            </a:r>
            <a:r>
              <a:rPr sz="1200" b="0">
                <a:solidFill>
                  <a:srgbClr val="0F172A"/>
                </a:solidFill>
                <a:latin typeface="Calibri"/>
              </a:rPr>
              <a:t>Sử dụng cửa sổ n_fft = 1024 mẫu (~64 ms) với bước nhảy hop_length = 512 mẫu (~32 ms) để nắm bắt biến thiên âm học theo thời gian.</a:t>
            </a:r>
          </a:p>
          <a:p>
            <a:pPr>
              <a:spcAft>
                <a:spcPts val="800"/>
              </a:spcAft>
              <a:defRPr sz="1200" b="1">
                <a:solidFill>
                  <a:srgbClr val="1E3A8A"/>
                </a:solidFill>
                <a:latin typeface="Arial"/>
              </a:defRPr>
            </a:pPr>
            <a:r>
              <a:t>• Ngân hàng dải lọc Mel (Mel Filterbank): </a:t>
            </a:r>
            <a:r>
              <a:rPr sz="1200" b="0">
                <a:solidFill>
                  <a:srgbClr val="0F172A"/>
                </a:solidFill>
                <a:latin typeface="Calibri"/>
              </a:rPr>
              <a:t>Sử dụng n_mels = 128 dải lọc phi tuyến mô phỏng màng nhĩ tai người, nhạy cảm cao ở dải tần giọng nói 300 - 3,400 Hz.</a:t>
            </a:r>
          </a:p>
          <a:p>
            <a:pPr>
              <a:spcAft>
                <a:spcPts val="800"/>
              </a:spcAft>
              <a:defRPr sz="1200" b="1">
                <a:solidFill>
                  <a:srgbClr val="1E3A8A"/>
                </a:solidFill>
                <a:latin typeface="Arial"/>
              </a:defRPr>
            </a:pPr>
            <a:r>
              <a:t>• Kích thước ma trận phổ (Spectrogram): </a:t>
            </a:r>
            <a:r>
              <a:rPr sz="1200" b="0">
                <a:solidFill>
                  <a:srgbClr val="0F172A"/>
                </a:solidFill>
                <a:latin typeface="Calibri"/>
              </a:rPr>
              <a:t>Tensor đầu ra có kích thước chuẩn [1, 128, 63] (1 kênh, 128 dải tần số Mel, 63 khung thời gian).</a:t>
            </a:r>
          </a:p>
          <a:p>
            <a:pPr>
              <a:spcAft>
                <a:spcPts val="800"/>
              </a:spcAft>
              <a:defRPr sz="1200" b="1">
                <a:solidFill>
                  <a:srgbClr val="1E3A8A"/>
                </a:solidFill>
                <a:latin typeface="Arial"/>
              </a:defRPr>
            </a:pPr>
            <a:r>
              <a:t>• Tăng cường dữ liệu SpecAugment: </a:t>
            </a:r>
            <a:r>
              <a:rPr sz="1200" b="0">
                <a:solidFill>
                  <a:srgbClr val="0F172A"/>
                </a:solidFill>
                <a:latin typeface="Calibri"/>
              </a:rPr>
              <a:t>Áp dụng Frequency Masking (F = 16) và Time Masking (T = 16) trực tiếp trên miền spectrogram trong lúc train, ép mô hình học đặc trưng phân tán và chống học vẹt.</a:t>
            </a:r>
          </a:p>
          <a:p>
            <a:pPr>
              <a:spcAft>
                <a:spcPts val="800"/>
              </a:spcAft>
              <a:defRPr sz="1200" b="1">
                <a:solidFill>
                  <a:srgbClr val="1E3A8A"/>
                </a:solidFill>
                <a:latin typeface="Arial"/>
              </a:defRPr>
            </a:pPr>
            <a:r>
              <a:t>• Đóng gói nhị phân Offline (dataset_processed.pt): </a:t>
            </a:r>
            <a:r>
              <a:rPr sz="1200" b="0">
                <a:solidFill>
                  <a:srgbClr val="0F172A"/>
                </a:solidFill>
                <a:latin typeface="Calibri"/>
              </a:rPr>
              <a:t>Tuần tự hóa toàn bộ 1,400 mẫu thành file 43.08 MB, tăng tốc I/O huấn luyện gấp 10-15 lần so với đọc file .wav động.</a:t>
            </a:r>
          </a:p>
        </p:txBody>
      </p:sp>
      <p:sp>
        <p:nvSpPr>
          <p:cNvPr id="7" name="Rounded Rectangle 6"/>
          <p:cNvSpPr/>
          <p:nvPr/>
        </p:nvSpPr>
        <p:spPr>
          <a:xfrm>
            <a:off x="6217920" y="1645920"/>
            <a:ext cx="5242255"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ecaugment_demo.png"/>
          <p:cNvPicPr>
            <a:picLocks noChangeAspect="1"/>
          </p:cNvPicPr>
          <p:nvPr/>
        </p:nvPicPr>
        <p:blipFill>
          <a:blip r:embed="rId2"/>
          <a:stretch>
            <a:fillRect/>
          </a:stretch>
        </p:blipFill>
        <p:spPr>
          <a:xfrm>
            <a:off x="6309360" y="1737360"/>
            <a:ext cx="5059375" cy="1942126"/>
          </a:xfrm>
          <a:prstGeom prst="rect">
            <a:avLst/>
          </a:prstGeom>
        </p:spPr>
      </p:pic>
      <p:sp>
        <p:nvSpPr>
          <p:cNvPr id="9" name="Rounded Rectangle 8"/>
          <p:cNvSpPr/>
          <p:nvPr/>
        </p:nvSpPr>
        <p:spPr>
          <a:xfrm>
            <a:off x="6217920" y="4023360"/>
            <a:ext cx="524225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aveform_rephai_original.png"/>
          <p:cNvPicPr>
            <a:picLocks noChangeAspect="1"/>
          </p:cNvPicPr>
          <p:nvPr/>
        </p:nvPicPr>
        <p:blipFill>
          <a:blip r:embed="rId3"/>
          <a:stretch>
            <a:fillRect/>
          </a:stretch>
        </p:blipFill>
        <p:spPr>
          <a:xfrm>
            <a:off x="6400800" y="4114800"/>
            <a:ext cx="4876495" cy="2103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3: MODEL ARCHITECTURE</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Kiến Trúc Đề Xuất SE_VoiceResNet (M5)</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Đột phá nén 84% tham số nhờ GAP và tái hiệu chuẩn kênh phổ âm thanh nhờ SE Block</a:t>
            </a:r>
          </a:p>
        </p:txBody>
      </p:sp>
      <p:sp>
        <p:nvSpPr>
          <p:cNvPr id="5" name="Rounded Rectangle 4"/>
          <p:cNvSpPr/>
          <p:nvPr/>
        </p:nvSpPr>
        <p:spPr>
          <a:xfrm>
            <a:off x="731520" y="1645920"/>
            <a:ext cx="10728655"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_M5_SE_VoiceResNet.png"/>
          <p:cNvPicPr>
            <a:picLocks noChangeAspect="1"/>
          </p:cNvPicPr>
          <p:nvPr/>
        </p:nvPicPr>
        <p:blipFill>
          <a:blip r:embed="rId2"/>
          <a:stretch>
            <a:fillRect/>
          </a:stretch>
        </p:blipFill>
        <p:spPr>
          <a:xfrm>
            <a:off x="914400" y="1737360"/>
            <a:ext cx="10362895" cy="2286000"/>
          </a:xfrm>
          <a:prstGeom prst="rect">
            <a:avLst/>
          </a:prstGeom>
        </p:spPr>
      </p:pic>
      <p:sp>
        <p:nvSpPr>
          <p:cNvPr id="7" name="Rounded Rectangle 6"/>
          <p:cNvSpPr/>
          <p:nvPr/>
        </p:nvSpPr>
        <p:spPr>
          <a:xfrm>
            <a:off x="731520" y="4297680"/>
            <a:ext cx="3413455"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34840"/>
            <a:ext cx="3047695" cy="1737360"/>
          </a:xfrm>
          <a:prstGeom prst="rect">
            <a:avLst/>
          </a:prstGeom>
          <a:noFill/>
        </p:spPr>
        <p:txBody>
          <a:bodyPr wrap="square">
            <a:spAutoFit/>
          </a:bodyPr>
          <a:lstStyle/>
          <a:p>
            <a:pPr>
              <a:spcAft>
                <a:spcPts val="200"/>
              </a:spcAft>
              <a:defRPr sz="1200" b="1">
                <a:solidFill>
                  <a:srgbClr val="1E3A8A"/>
                </a:solidFill>
                <a:latin typeface="Arial"/>
              </a:defRPr>
            </a:pPr>
            <a:r>
              <a:t>1. RESIDUAL LEARNING (M4)</a:t>
            </a:r>
          </a:p>
          <a:p>
            <a:pPr>
              <a:spcAft>
                <a:spcPts val="400"/>
              </a:spcAft>
              <a:defRPr sz="1100" b="1">
                <a:solidFill>
                  <a:srgbClr val="0284C7"/>
                </a:solidFill>
                <a:latin typeface="Calibri"/>
              </a:defRPr>
            </a:pPr>
            <a:r>
              <a:t>Skip Connections F(x) + x</a:t>
            </a:r>
          </a:p>
          <a:p>
            <a:pPr>
              <a:defRPr sz="1100">
                <a:solidFill>
                  <a:srgbClr val="0F172A"/>
                </a:solidFill>
                <a:latin typeface="Calibri"/>
              </a:defRPr>
            </a:pPr>
            <a:r>
              <a:t>Giải quyết triệt để tiêu biến đạo hàm khi mạng sâu, cho phép truyền gradient thông suốt qua các khối Conv 3x3.</a:t>
            </a:r>
          </a:p>
        </p:txBody>
      </p:sp>
      <p:sp>
        <p:nvSpPr>
          <p:cNvPr id="9" name="Rounded Rectangle 8"/>
          <p:cNvSpPr/>
          <p:nvPr/>
        </p:nvSpPr>
        <p:spPr>
          <a:xfrm>
            <a:off x="4389120" y="4297680"/>
            <a:ext cx="3413455"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434840"/>
            <a:ext cx="3047695" cy="1737360"/>
          </a:xfrm>
          <a:prstGeom prst="rect">
            <a:avLst/>
          </a:prstGeom>
          <a:noFill/>
        </p:spPr>
        <p:txBody>
          <a:bodyPr wrap="square">
            <a:spAutoFit/>
          </a:bodyPr>
          <a:lstStyle/>
          <a:p>
            <a:pPr>
              <a:spcAft>
                <a:spcPts val="200"/>
              </a:spcAft>
              <a:defRPr sz="1200" b="1">
                <a:solidFill>
                  <a:srgbClr val="1E3A8A"/>
                </a:solidFill>
                <a:latin typeface="Arial"/>
              </a:defRPr>
            </a:pPr>
            <a:r>
              <a:t>2. GLOBAL AVERAGE POOLING</a:t>
            </a:r>
          </a:p>
          <a:p>
            <a:pPr>
              <a:spcAft>
                <a:spcPts val="400"/>
              </a:spcAft>
              <a:defRPr sz="1100" b="1">
                <a:solidFill>
                  <a:srgbClr val="0284C7"/>
                </a:solidFill>
                <a:latin typeface="Calibri"/>
              </a:defRPr>
            </a:pPr>
            <a:r>
              <a:t>Cắt giảm 84.05% Tham số</a:t>
            </a:r>
          </a:p>
          <a:p>
            <a:pPr>
              <a:defRPr sz="1100">
                <a:solidFill>
                  <a:srgbClr val="0F172A"/>
                </a:solidFill>
                <a:latin typeface="Calibri"/>
              </a:defRPr>
            </a:pPr>
            <a:r>
              <a:t>Thay thế tầng Flatten + FC cồng kềnh (chiếm 1.6M params ở M1-M3) bằng GAP 1x1, nén tham số từ 1.93M xuống chỉ còn 307K.</a:t>
            </a:r>
          </a:p>
        </p:txBody>
      </p:sp>
      <p:sp>
        <p:nvSpPr>
          <p:cNvPr id="11" name="Rounded Rectangle 10"/>
          <p:cNvSpPr/>
          <p:nvPr/>
        </p:nvSpPr>
        <p:spPr>
          <a:xfrm>
            <a:off x="8046720" y="4297680"/>
            <a:ext cx="3413455"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434840"/>
            <a:ext cx="3047695" cy="1737360"/>
          </a:xfrm>
          <a:prstGeom prst="rect">
            <a:avLst/>
          </a:prstGeom>
          <a:noFill/>
        </p:spPr>
        <p:txBody>
          <a:bodyPr wrap="square">
            <a:spAutoFit/>
          </a:bodyPr>
          <a:lstStyle/>
          <a:p>
            <a:pPr>
              <a:spcAft>
                <a:spcPts val="200"/>
              </a:spcAft>
              <a:defRPr sz="1200" b="1">
                <a:solidFill>
                  <a:srgbClr val="1E3A8A"/>
                </a:solidFill>
                <a:latin typeface="Arial"/>
              </a:defRPr>
            </a:pPr>
            <a:r>
              <a:t>3. SQUEEZE-AND-EXCITATION (M5)</a:t>
            </a:r>
          </a:p>
          <a:p>
            <a:pPr>
              <a:spcAft>
                <a:spcPts val="400"/>
              </a:spcAft>
              <a:defRPr sz="1100" b="1">
                <a:solidFill>
                  <a:srgbClr val="0284C7"/>
                </a:solidFill>
                <a:latin typeface="Calibri"/>
              </a:defRPr>
            </a:pPr>
            <a:r>
              <a:t>Acoustic Channel Attention</a:t>
            </a:r>
          </a:p>
          <a:p>
            <a:pPr>
              <a:defRPr sz="1100">
                <a:solidFill>
                  <a:srgbClr val="0F172A"/>
                </a:solidFill>
                <a:latin typeface="Calibri"/>
              </a:defRPr>
            </a:pPr>
            <a:r>
              <a:t>Tái hiệu chuẩn trọng số kênh thích nghi, tự động lọc sạch dải tần nhiễu động cơ và nâng cao biên an toàn phân loại.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3 DEEP DIVE: CHANNEL ATTENTION</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Cơ Chế Khối SE &amp; Luận Cứ Vàng: Vì Sao Chọn M5 Thay Vì M4?</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Phân tích bản chất vật lý âm học, kiểm soát nhiễu động cơ và khoảng cách biên an toàn (Loss Margin)</a:t>
            </a:r>
          </a:p>
        </p:txBody>
      </p:sp>
      <p:sp>
        <p:nvSpPr>
          <p:cNvPr id="5" name="Rounded Rectangle 4"/>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_SE_Block_Mechanism.png"/>
          <p:cNvPicPr>
            <a:picLocks noChangeAspect="1"/>
          </p:cNvPicPr>
          <p:nvPr/>
        </p:nvPicPr>
        <p:blipFill>
          <a:blip r:embed="rId2"/>
          <a:stretch>
            <a:fillRect/>
          </a:stretch>
        </p:blipFill>
        <p:spPr>
          <a:xfrm>
            <a:off x="822960" y="2194560"/>
            <a:ext cx="4937760" cy="1473565"/>
          </a:xfrm>
          <a:prstGeom prst="rect">
            <a:avLst/>
          </a:prstGeom>
        </p:spPr>
      </p:pic>
      <p:sp>
        <p:nvSpPr>
          <p:cNvPr id="7" name="Rounded Rectangle 6"/>
          <p:cNvSpPr/>
          <p:nvPr/>
        </p:nvSpPr>
        <p:spPr>
          <a:xfrm>
            <a:off x="6217920" y="1645920"/>
            <a:ext cx="5242255"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93615" cy="4297680"/>
          </a:xfrm>
          <a:prstGeom prst="rect">
            <a:avLst/>
          </a:prstGeom>
          <a:noFill/>
        </p:spPr>
        <p:txBody>
          <a:bodyPr wrap="square">
            <a:spAutoFit/>
          </a:bodyPr>
          <a:lstStyle/>
          <a:p>
            <a:pPr>
              <a:spcAft>
                <a:spcPts val="600"/>
              </a:spcAft>
              <a:defRPr sz="1200" b="1">
                <a:solidFill>
                  <a:srgbClr val="1E3A8A"/>
                </a:solidFill>
                <a:latin typeface="Arial"/>
              </a:defRPr>
            </a:pPr>
            <a:r>
              <a:t>• Hiện tượng bão hòa trần trên dữ liệu sạch: </a:t>
            </a:r>
            <a:r>
              <a:rPr sz="1200" b="0">
                <a:solidFill>
                  <a:srgbClr val="0F172A"/>
                </a:solidFill>
                <a:latin typeface="Calibri"/>
              </a:rPr>
              <a:t>Trên 140 mẫu test của Data_1400, cả M4 và M5 đều đạt 100% Accuracy. Tuy nhiên, chỉ số Accuracy chưa phản ánh được độ dẻo dai (robustness) khi ra môi trường thực tế.</a:t>
            </a:r>
          </a:p>
          <a:p>
            <a:pPr>
              <a:spcAft>
                <a:spcPts val="600"/>
              </a:spcAft>
              <a:defRPr sz="1200" b="1">
                <a:solidFill>
                  <a:srgbClr val="1E3A8A"/>
                </a:solidFill>
                <a:latin typeface="Arial"/>
              </a:defRPr>
            </a:pPr>
            <a:r>
              <a:t>• Khoảng cách biên phân loại (Safety Margin) an toàn hơn: </a:t>
            </a:r>
            <a:r>
              <a:rPr sz="1200" b="0">
                <a:solidFill>
                  <a:srgbClr val="0F172A"/>
                </a:solidFill>
                <a:latin typeface="Calibri"/>
              </a:rPr>
              <a:t>M5 đạt hàm mất mát kiểm thử thấp nhất toàn diện (0.4826 so với 0.5010 của M4). Test Loss thấp hơn chứng minh vector đặc trưng của M5 nằm cách xa siêu phẳng phân chia hơn, tự tin hơn trước các biến thiên âm học.</a:t>
            </a:r>
          </a:p>
          <a:p>
            <a:pPr>
              <a:spcAft>
                <a:spcPts val="600"/>
              </a:spcAft>
              <a:defRPr sz="1200" b="1">
                <a:solidFill>
                  <a:srgbClr val="1E3A8A"/>
                </a:solidFill>
                <a:latin typeface="Arial"/>
              </a:defRPr>
            </a:pPr>
            <a:r>
              <a:t>• Lọc dải tần thích nghi (Adaptive Spectral Filtering): </a:t>
            </a:r>
            <a:r>
              <a:rPr sz="1200" b="0">
                <a:solidFill>
                  <a:srgbClr val="0F172A"/>
                </a:solidFill>
                <a:latin typeface="Calibri"/>
              </a:rPr>
              <a:t>M4 đối xử bình đẳng mọi kênh (w_c = 1). M5 học trọng số s_c in [0, 1] cho từng mẫu: tự động khuếch đại kênh Formant giọng nói (300 - 3,400 Hz) và dập tắt kênh tần số thấp chứa tiếng ù động cơ robot và quạt gió.</a:t>
            </a:r>
          </a:p>
          <a:p>
            <a:pPr>
              <a:spcAft>
                <a:spcPts val="600"/>
              </a:spcAft>
              <a:defRPr sz="1200" b="1">
                <a:solidFill>
                  <a:srgbClr val="1E3A8A"/>
                </a:solidFill>
                <a:latin typeface="Arial"/>
              </a:defRPr>
            </a:pPr>
            <a:r>
              <a:t>• Đánh đổi tài nguyên siêu nhỏ cho bảo hiểm âm học: </a:t>
            </a:r>
            <a:r>
              <a:rPr sz="1200" b="0">
                <a:solidFill>
                  <a:srgbClr val="0F172A"/>
                </a:solidFill>
                <a:latin typeface="Calibri"/>
              </a:rPr>
              <a:t>M5 chỉ tăng thêm 2,816 tham số (+0.91%) và +0.66 ms CPU latency (4.82ms lên 5.48ms), chỉ chiếm 5.5% ngân sách thời gian thực 20ms. Đổi lại, hệ thống có khả năng kháng nhiễu vượt trội khi triển khai thực tế.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4: OPTIMIZATION &amp; BENCHMARKING</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Chiến Lược Tối Ưu Hóa &amp; Đánh Đổi Đường Biên Pareto</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So sánh 4 bộ tối ưu hóa và chứng minh vị thế thống trị của M5 trên đường biên Pareto</a:t>
            </a:r>
          </a:p>
        </p:txBody>
      </p:sp>
      <p:sp>
        <p:nvSpPr>
          <p:cNvPr id="5" name="Rounded Rectangle 4"/>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timizer_comparison.png"/>
          <p:cNvPicPr>
            <a:picLocks noChangeAspect="1"/>
          </p:cNvPicPr>
          <p:nvPr/>
        </p:nvPicPr>
        <p:blipFill>
          <a:blip r:embed="rId2"/>
          <a:stretch>
            <a:fillRect/>
          </a:stretch>
        </p:blipFill>
        <p:spPr>
          <a:xfrm>
            <a:off x="822960" y="1737360"/>
            <a:ext cx="4937760" cy="2057400"/>
          </a:xfrm>
          <a:prstGeom prst="rect">
            <a:avLst/>
          </a:prstGeom>
        </p:spPr>
      </p:pic>
      <p:sp>
        <p:nvSpPr>
          <p:cNvPr id="7" name="TextBox 6"/>
          <p:cNvSpPr txBox="1"/>
          <p:nvPr/>
        </p:nvSpPr>
        <p:spPr>
          <a:xfrm>
            <a:off x="914400" y="3840480"/>
            <a:ext cx="4754880" cy="2286000"/>
          </a:xfrm>
          <a:prstGeom prst="rect">
            <a:avLst/>
          </a:prstGeom>
          <a:noFill/>
        </p:spPr>
        <p:txBody>
          <a:bodyPr wrap="square">
            <a:spAutoFit/>
          </a:bodyPr>
          <a:lstStyle/>
          <a:p>
            <a:pPr>
              <a:spcAft>
                <a:spcPts val="300"/>
              </a:spcAft>
              <a:defRPr sz="1100" b="1">
                <a:solidFill>
                  <a:srgbClr val="1E3A8A"/>
                </a:solidFill>
                <a:latin typeface="Arial"/>
              </a:defRPr>
            </a:pPr>
            <a:r>
              <a:t>• Vanilla SGD (69.29%): </a:t>
            </a:r>
            <a:r>
              <a:rPr sz="1100">
                <a:solidFill>
                  <a:srgbClr val="0F172A"/>
                </a:solidFill>
                <a:latin typeface="Calibri"/>
              </a:rPr>
              <a:t>Bị kẹt tại điểm yên ngựa/cực tiểu địa phương.</a:t>
            </a:r>
          </a:p>
          <a:p>
            <a:pPr>
              <a:spcAft>
                <a:spcPts val="300"/>
              </a:spcAft>
              <a:defRPr sz="1100" b="1">
                <a:solidFill>
                  <a:srgbClr val="1E3A8A"/>
                </a:solidFill>
                <a:latin typeface="Arial"/>
              </a:defRPr>
            </a:pPr>
            <a:r>
              <a:t>• SGD + Momentum (100.00%): </a:t>
            </a:r>
            <a:r>
              <a:rPr sz="1100">
                <a:solidFill>
                  <a:srgbClr val="0F172A"/>
                </a:solidFill>
                <a:latin typeface="Calibri"/>
              </a:rPr>
              <a:t>Vượt điểm yên ngựa nhưng hội tụ chậm hơn Adam.</a:t>
            </a:r>
          </a:p>
          <a:p>
            <a:pPr>
              <a:spcAft>
                <a:spcPts val="300"/>
              </a:spcAft>
              <a:defRPr sz="1100" b="1">
                <a:solidFill>
                  <a:srgbClr val="1E3A8A"/>
                </a:solidFill>
                <a:latin typeface="Arial"/>
              </a:defRPr>
            </a:pPr>
            <a:r>
              <a:t>• Adam (100.00%): </a:t>
            </a:r>
            <a:r>
              <a:rPr sz="1100">
                <a:solidFill>
                  <a:srgbClr val="0F172A"/>
                </a:solidFill>
                <a:latin typeface="Calibri"/>
              </a:rPr>
              <a:t>Hội tụ cực nhanh sau 3-5 epoch (Loss: 0.4908).</a:t>
            </a:r>
          </a:p>
          <a:p>
            <a:pPr>
              <a:spcAft>
                <a:spcPts val="300"/>
              </a:spcAft>
              <a:defRPr sz="1100" b="1">
                <a:solidFill>
                  <a:srgbClr val="1E3A8A"/>
                </a:solidFill>
                <a:latin typeface="Arial"/>
              </a:defRPr>
            </a:pPr>
            <a:r>
              <a:t>• AdamW + Cosine (100.00%): </a:t>
            </a:r>
            <a:r>
              <a:rPr sz="1100">
                <a:solidFill>
                  <a:srgbClr val="0F172A"/>
                </a:solidFill>
                <a:latin typeface="Calibri"/>
              </a:rPr>
              <a:t>TỐT NHẤT: Loss thấp nhất (0.4826), hội tụ phẳng và biên an toàn tối ưu.</a:t>
            </a:r>
          </a:p>
        </p:txBody>
      </p:sp>
      <p:sp>
        <p:nvSpPr>
          <p:cNvPr id="8" name="Rounded Rectangle 7"/>
          <p:cNvSpPr/>
          <p:nvPr/>
        </p:nvSpPr>
        <p:spPr>
          <a:xfrm>
            <a:off x="6217920" y="164592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reto_tradeoff.png"/>
          <p:cNvPicPr>
            <a:picLocks noChangeAspect="1"/>
          </p:cNvPicPr>
          <p:nvPr/>
        </p:nvPicPr>
        <p:blipFill>
          <a:blip r:embed="rId3"/>
          <a:stretch>
            <a:fillRect/>
          </a:stretch>
        </p:blipFill>
        <p:spPr>
          <a:xfrm>
            <a:off x="6309360" y="1737360"/>
            <a:ext cx="5059375" cy="2409954"/>
          </a:xfrm>
          <a:prstGeom prst="rect">
            <a:avLst/>
          </a:prstGeom>
        </p:spPr>
      </p:pic>
      <p:sp>
        <p:nvSpPr>
          <p:cNvPr id="10" name="TextBox 9"/>
          <p:cNvSpPr txBox="1"/>
          <p:nvPr/>
        </p:nvSpPr>
        <p:spPr>
          <a:xfrm>
            <a:off x="6400800" y="4114800"/>
            <a:ext cx="4876495" cy="2011680"/>
          </a:xfrm>
          <a:prstGeom prst="rect">
            <a:avLst/>
          </a:prstGeom>
          <a:noFill/>
        </p:spPr>
        <p:txBody>
          <a:bodyPr wrap="square">
            <a:spAutoFit/>
          </a:bodyPr>
          <a:lstStyle/>
          <a:p>
            <a:pPr>
              <a:spcAft>
                <a:spcPts val="400"/>
              </a:spcAft>
              <a:defRPr sz="1100" b="1">
                <a:solidFill>
                  <a:srgbClr val="1E3A8A"/>
                </a:solidFill>
                <a:latin typeface="Arial"/>
              </a:defRPr>
            </a:pPr>
            <a:r>
              <a:t>• Vị thế thống trị trên đường biên Pareto: </a:t>
            </a:r>
            <a:r>
              <a:rPr sz="1100">
                <a:solidFill>
                  <a:srgbClr val="0F172A"/>
                </a:solidFill>
                <a:latin typeface="Calibri"/>
              </a:rPr>
              <a:t>M5 đạt 100% Accuracy tại điểm nén tham số tối ưu (0.31M so với 1.93M của M1-M3).</a:t>
            </a:r>
          </a:p>
          <a:p>
            <a:pPr>
              <a:spcAft>
                <a:spcPts val="400"/>
              </a:spcAft>
              <a:defRPr sz="1100" b="1">
                <a:solidFill>
                  <a:srgbClr val="1E3A8A"/>
                </a:solidFill>
                <a:latin typeface="Arial"/>
              </a:defRPr>
            </a:pPr>
            <a:r>
              <a:t>• Khối lượng tính toán siêu nhẹ: </a:t>
            </a:r>
            <a:r>
              <a:rPr sz="1100">
                <a:solidFill>
                  <a:srgbClr val="0F172A"/>
                </a:solidFill>
                <a:latin typeface="Calibri"/>
              </a:rPr>
              <a:t>14.95 MFLOPs và 5.48 ms độ trễ CPU trên thiết bị nhúng.</a:t>
            </a:r>
          </a:p>
          <a:p>
            <a:pPr>
              <a:spcAft>
                <a:spcPts val="400"/>
              </a:spcAft>
              <a:defRPr sz="1100" b="1">
                <a:solidFill>
                  <a:srgbClr val="1E3A8A"/>
                </a:solidFill>
                <a:latin typeface="Arial"/>
              </a:defRPr>
            </a:pPr>
            <a:r>
              <a:t>• Giải phóng &gt;72% năng lực CPU: </a:t>
            </a:r>
            <a:r>
              <a:rPr sz="1100">
                <a:solidFill>
                  <a:srgbClr val="0F172A"/>
                </a:solidFill>
                <a:latin typeface="Calibri"/>
              </a:rPr>
              <a:t>Dành trọn vẹn tài nguyên tính toán cho các tác vụ định vị bản đồ SLAM, dẫn đường và điều khiển bánh xe.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4: EVALUATION &amp; EXPLAINABILITY</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Ma Trận Nhầm Lẫn &amp; Trực Quan Hóa XAI Bằng Grad-CAM</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Chứng minh độ chính xác 140/140 mẫu và giải thích vùng tập trung năng lượng của mạng</a:t>
            </a:r>
          </a:p>
        </p:txBody>
      </p:sp>
      <p:sp>
        <p:nvSpPr>
          <p:cNvPr id="5" name="Rounded Rectangle 4"/>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nfusion_matrix_M5.png"/>
          <p:cNvPicPr>
            <a:picLocks noChangeAspect="1"/>
          </p:cNvPicPr>
          <p:nvPr/>
        </p:nvPicPr>
        <p:blipFill>
          <a:blip r:embed="rId2"/>
          <a:stretch>
            <a:fillRect/>
          </a:stretch>
        </p:blipFill>
        <p:spPr>
          <a:xfrm>
            <a:off x="1097280" y="1737360"/>
            <a:ext cx="4389120" cy="3506912"/>
          </a:xfrm>
          <a:prstGeom prst="rect">
            <a:avLst/>
          </a:prstGeom>
        </p:spPr>
      </p:pic>
      <p:sp>
        <p:nvSpPr>
          <p:cNvPr id="7" name="TextBox 6"/>
          <p:cNvSpPr txBox="1"/>
          <p:nvPr/>
        </p:nvSpPr>
        <p:spPr>
          <a:xfrm>
            <a:off x="914400" y="5303520"/>
            <a:ext cx="4754880" cy="914400"/>
          </a:xfrm>
          <a:prstGeom prst="rect">
            <a:avLst/>
          </a:prstGeom>
          <a:noFill/>
        </p:spPr>
        <p:txBody>
          <a:bodyPr wrap="square">
            <a:spAutoFit/>
          </a:bodyPr>
          <a:lstStyle/>
          <a:p>
            <a:pPr>
              <a:defRPr sz="1100" b="1">
                <a:solidFill>
                  <a:srgbClr val="1E3A8A"/>
                </a:solidFill>
                <a:latin typeface="Calibri"/>
              </a:defRPr>
            </a:pPr>
            <a:r>
              <a:t>Độ chính xác tuyệt đối 100.00%: 140/140 mẫu kiểm thử độc lập nằm trên đường chéo chính (đúng 20/20 mẫu mỗi lớp, 0 lỗi nhầm lẫn).</a:t>
            </a:r>
          </a:p>
        </p:txBody>
      </p:sp>
      <p:sp>
        <p:nvSpPr>
          <p:cNvPr id="8" name="Rounded Rectangle 7"/>
          <p:cNvSpPr/>
          <p:nvPr/>
        </p:nvSpPr>
        <p:spPr>
          <a:xfrm>
            <a:off x="6217920" y="164592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radcam_sample_rephai.png"/>
          <p:cNvPicPr>
            <a:picLocks noChangeAspect="1"/>
          </p:cNvPicPr>
          <p:nvPr/>
        </p:nvPicPr>
        <p:blipFill>
          <a:blip r:embed="rId3"/>
          <a:stretch>
            <a:fillRect/>
          </a:stretch>
        </p:blipFill>
        <p:spPr>
          <a:xfrm>
            <a:off x="6309360" y="1737360"/>
            <a:ext cx="5059375" cy="1972462"/>
          </a:xfrm>
          <a:prstGeom prst="rect">
            <a:avLst/>
          </a:prstGeom>
        </p:spPr>
      </p:pic>
      <p:sp>
        <p:nvSpPr>
          <p:cNvPr id="10" name="TextBox 9"/>
          <p:cNvSpPr txBox="1"/>
          <p:nvPr/>
        </p:nvSpPr>
        <p:spPr>
          <a:xfrm>
            <a:off x="6400800" y="4023360"/>
            <a:ext cx="4876495" cy="2103120"/>
          </a:xfrm>
          <a:prstGeom prst="rect">
            <a:avLst/>
          </a:prstGeom>
          <a:noFill/>
        </p:spPr>
        <p:txBody>
          <a:bodyPr wrap="square">
            <a:spAutoFit/>
          </a:bodyPr>
          <a:lstStyle/>
          <a:p>
            <a:pPr>
              <a:spcAft>
                <a:spcPts val="400"/>
              </a:spcAft>
              <a:defRPr sz="1100" b="1">
                <a:solidFill>
                  <a:srgbClr val="1E3A8A"/>
                </a:solidFill>
                <a:latin typeface="Arial"/>
              </a:defRPr>
            </a:pPr>
            <a:r>
              <a:t>• Lắng nghe đúng dải Formant âm vị: </a:t>
            </a:r>
            <a:r>
              <a:rPr sz="1100">
                <a:solidFill>
                  <a:srgbClr val="0F172A"/>
                </a:solidFill>
                <a:latin typeface="Calibri"/>
              </a:rPr>
              <a:t>Bản đồ nhiệt Grad-CAM tại lớp tích chập cuối cùng (layer3[-1].conv2) tập trung năng lượng cực đại chính xác vào các nguyên âm của khẩu lệnh 'Rẽ Phải'.</a:t>
            </a:r>
          </a:p>
          <a:p>
            <a:pPr>
              <a:spcAft>
                <a:spcPts val="400"/>
              </a:spcAft>
              <a:defRPr sz="1100" b="1">
                <a:solidFill>
                  <a:srgbClr val="1E3A8A"/>
                </a:solidFill>
                <a:latin typeface="Arial"/>
              </a:defRPr>
            </a:pPr>
            <a:r>
              <a:t>• Khả năng miễn nhiễm tạp âm môi trường: </a:t>
            </a:r>
            <a:r>
              <a:rPr sz="1100">
                <a:solidFill>
                  <a:srgbClr val="0F172A"/>
                </a:solidFill>
                <a:latin typeface="Calibri"/>
              </a:rPr>
              <a:t>Đối với lớp 'KhongXacDinh', bản đồ kích hoạt phân tán mờ nhạt và năng lượng cực thấp, ngăn chặn triệt để kích hoạt lệnh sai (False Positive).</a:t>
            </a:r>
          </a:p>
          <a:p>
            <a:pPr>
              <a:spcAft>
                <a:spcPts val="400"/>
              </a:spcAft>
              <a:defRPr sz="1100" b="1">
                <a:solidFill>
                  <a:srgbClr val="1E3A8A"/>
                </a:solidFill>
                <a:latin typeface="Arial"/>
              </a:defRPr>
            </a:pPr>
            <a:r>
              <a:t>• Xác thực khoa học (White-box AI): </a:t>
            </a:r>
            <a:r>
              <a:rPr sz="1100">
                <a:solidFill>
                  <a:srgbClr val="0F172A"/>
                </a:solidFill>
                <a:latin typeface="Calibri"/>
              </a:rPr>
              <a:t>Chứng minh mạng học được đặc trưng âm học ngữ nghĩa thực sự thay vì học vẹt nhiễu nền ngẫu nhiên.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STAGE 5: EDGE DEPLOYMENT &amp; ROBOTICS</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Kiến Trúc Thời Gian Thực &amp; Điều Khiển Phần Cứng Robot</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Triển khai suy luận thời gian thực trên Raspberry Pi 4 / Jetson Nano và điều khiển động cơ</a:t>
            </a:r>
          </a:p>
        </p:txBody>
      </p:sp>
      <p:sp>
        <p:nvSpPr>
          <p:cNvPr id="5" name="Rounded Rectangle 4"/>
          <p:cNvSpPr/>
          <p:nvPr/>
        </p:nvSpPr>
        <p:spPr>
          <a:xfrm>
            <a:off x="731520" y="1645920"/>
            <a:ext cx="3413455"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47695" cy="4297680"/>
          </a:xfrm>
          <a:prstGeom prst="rect">
            <a:avLst/>
          </a:prstGeom>
          <a:noFill/>
        </p:spPr>
        <p:txBody>
          <a:bodyPr wrap="square">
            <a:spAutoFit/>
          </a:bodyPr>
          <a:lstStyle/>
          <a:p>
            <a:pPr>
              <a:spcAft>
                <a:spcPts val="200"/>
              </a:spcAft>
              <a:defRPr sz="1300" b="1">
                <a:solidFill>
                  <a:srgbClr val="1E3A8A"/>
                </a:solidFill>
                <a:latin typeface="Arial"/>
              </a:defRPr>
            </a:pPr>
            <a:r>
              <a:t>1. BỘ ĐỆM TRƯỢT STREAMING VAD</a:t>
            </a:r>
          </a:p>
          <a:p>
            <a:pPr>
              <a:spcAft>
                <a:spcPts val="1200"/>
              </a:spcAft>
              <a:defRPr sz="1100" b="1">
                <a:solidFill>
                  <a:srgbClr val="0284C7"/>
                </a:solidFill>
                <a:latin typeface="Calibri"/>
              </a:defRPr>
            </a:pPr>
            <a:r>
              <a:t>Continuous Audio Buffering</a:t>
            </a:r>
          </a:p>
          <a:p>
            <a:pPr>
              <a:spcAft>
                <a:spcPts val="800"/>
              </a:spcAft>
              <a:defRPr sz="1100">
                <a:solidFill>
                  <a:srgbClr val="0F172A"/>
                </a:solidFill>
                <a:latin typeface="Calibri"/>
              </a:defRPr>
            </a:pPr>
            <a:r>
              <a:t>• Thu âm micro liên tục với bộ đệm tròn (Circular Rolling Buffer) 2.0s.</a:t>
            </a:r>
          </a:p>
          <a:p>
            <a:pPr>
              <a:spcAft>
                <a:spcPts val="800"/>
              </a:spcAft>
              <a:defRPr sz="1100">
                <a:solidFill>
                  <a:srgbClr val="0F172A"/>
                </a:solidFill>
                <a:latin typeface="Calibri"/>
              </a:defRPr>
            </a:pPr>
            <a:r>
              <a:t>• Bước nhảy dịch chuyển (hop): 0.25s - 0.5s tạo trải nghiệm thời gian thực mượt mà.</a:t>
            </a:r>
          </a:p>
          <a:p>
            <a:pPr>
              <a:spcAft>
                <a:spcPts val="800"/>
              </a:spcAft>
              <a:defRPr sz="1100">
                <a:solidFill>
                  <a:srgbClr val="0F172A"/>
                </a:solidFill>
                <a:latin typeface="Calibri"/>
              </a:defRPr>
            </a:pPr>
            <a:r>
              <a:t>• Tích hợp Voice Activity Detection (Silero/WebRTC VAD) chỉ kích hoạt suy luận khi có tiếng người nói, tiết kiệm năng lượng pin robot.</a:t>
            </a:r>
          </a:p>
        </p:txBody>
      </p:sp>
      <p:sp>
        <p:nvSpPr>
          <p:cNvPr id="7" name="Rounded Rectangle 6"/>
          <p:cNvSpPr/>
          <p:nvPr/>
        </p:nvSpPr>
        <p:spPr>
          <a:xfrm>
            <a:off x="4389120" y="1645920"/>
            <a:ext cx="3413455"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47695" cy="4297680"/>
          </a:xfrm>
          <a:prstGeom prst="rect">
            <a:avLst/>
          </a:prstGeom>
          <a:noFill/>
        </p:spPr>
        <p:txBody>
          <a:bodyPr wrap="square">
            <a:spAutoFit/>
          </a:bodyPr>
          <a:lstStyle/>
          <a:p>
            <a:pPr>
              <a:spcAft>
                <a:spcPts val="200"/>
              </a:spcAft>
              <a:defRPr sz="1300" b="1">
                <a:solidFill>
                  <a:srgbClr val="1E3A8A"/>
                </a:solidFill>
                <a:latin typeface="Arial"/>
              </a:defRPr>
            </a:pPr>
            <a:r>
              <a:t>2. LƯỢNG TỬ HÓA MÔ HÌNH INT8</a:t>
            </a:r>
          </a:p>
          <a:p>
            <a:pPr>
              <a:spcAft>
                <a:spcPts val="1200"/>
              </a:spcAft>
              <a:defRPr sz="1100" b="1">
                <a:solidFill>
                  <a:srgbClr val="0284C7"/>
                </a:solidFill>
                <a:latin typeface="Calibri"/>
              </a:defRPr>
            </a:pPr>
            <a:r>
              <a:t>Post-Training Quantization</a:t>
            </a:r>
          </a:p>
          <a:p>
            <a:pPr>
              <a:spcAft>
                <a:spcPts val="800"/>
              </a:spcAft>
              <a:defRPr sz="1100">
                <a:solidFill>
                  <a:srgbClr val="0F172A"/>
                </a:solidFill>
                <a:latin typeface="Calibri"/>
              </a:defRPr>
            </a:pPr>
            <a:r>
              <a:t>• Lượng tử hóa trọng số từ FP32 (1.25 MB) xuống INT8 (~310 KB).</a:t>
            </a:r>
          </a:p>
          <a:p>
            <a:pPr>
              <a:spcAft>
                <a:spcPts val="800"/>
              </a:spcAft>
              <a:defRPr sz="1100">
                <a:solidFill>
                  <a:srgbClr val="0F172A"/>
                </a:solidFill>
                <a:latin typeface="Calibri"/>
              </a:defRPr>
            </a:pPr>
            <a:r>
              <a:t>• Nén kích thước file 4 lần, nằm gọn hoàn toàn trong bộ nhớ SRAM/Flash của vi xử lý biên.</a:t>
            </a:r>
          </a:p>
          <a:p>
            <a:pPr>
              <a:spcAft>
                <a:spcPts val="800"/>
              </a:spcAft>
              <a:defRPr sz="1100">
                <a:solidFill>
                  <a:srgbClr val="0F172A"/>
                </a:solidFill>
                <a:latin typeface="Calibri"/>
              </a:defRPr>
            </a:pPr>
            <a:r>
              <a:t>• Giảm độ trễ CPU từ 5.48 ms xuống dưới 2.5 ms/mẫu trên Raspberry Pi 4, tăng tốc độ xử lý lên &gt;400 FPS.</a:t>
            </a:r>
          </a:p>
        </p:txBody>
      </p:sp>
      <p:sp>
        <p:nvSpPr>
          <p:cNvPr id="9" name="Rounded Rectangle 8"/>
          <p:cNvSpPr/>
          <p:nvPr/>
        </p:nvSpPr>
        <p:spPr>
          <a:xfrm>
            <a:off x="8046720" y="1645920"/>
            <a:ext cx="3413455"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47695" cy="4297680"/>
          </a:xfrm>
          <a:prstGeom prst="rect">
            <a:avLst/>
          </a:prstGeom>
          <a:noFill/>
        </p:spPr>
        <p:txBody>
          <a:bodyPr wrap="square">
            <a:spAutoFit/>
          </a:bodyPr>
          <a:lstStyle/>
          <a:p>
            <a:pPr>
              <a:spcAft>
                <a:spcPts val="200"/>
              </a:spcAft>
              <a:defRPr sz="1300" b="1">
                <a:solidFill>
                  <a:srgbClr val="1E3A8A"/>
                </a:solidFill>
                <a:latin typeface="Arial"/>
              </a:defRPr>
            </a:pPr>
            <a:r>
              <a:t>3. GIAO TIẾP ĐIỀU KHIỂN ROBOT</a:t>
            </a:r>
          </a:p>
          <a:p>
            <a:pPr>
              <a:spcAft>
                <a:spcPts val="1200"/>
              </a:spcAft>
              <a:defRPr sz="1100" b="1">
                <a:solidFill>
                  <a:srgbClr val="0284C7"/>
                </a:solidFill>
                <a:latin typeface="Calibri"/>
              </a:defRPr>
            </a:pPr>
            <a:r>
              <a:t>ROS2 / Serial UART Actuation</a:t>
            </a:r>
          </a:p>
          <a:p>
            <a:pPr>
              <a:spcAft>
                <a:spcPts val="800"/>
              </a:spcAft>
              <a:defRPr sz="1100">
                <a:solidFill>
                  <a:srgbClr val="0F172A"/>
                </a:solidFill>
                <a:latin typeface="Calibri"/>
              </a:defRPr>
            </a:pPr>
            <a:r>
              <a:t>• Đóng gói Node ROS2 / Giao tiếp UART truyền lệnh điều khiển xuống mạch STM32/ESP32.</a:t>
            </a:r>
          </a:p>
          <a:p>
            <a:pPr>
              <a:spcAft>
                <a:spcPts val="800"/>
              </a:spcAft>
              <a:defRPr sz="1100">
                <a:solidFill>
                  <a:srgbClr val="0F172A"/>
                </a:solidFill>
                <a:latin typeface="Calibri"/>
              </a:defRPr>
            </a:pPr>
            <a:r>
              <a:t>• Bản đồ điều khiển: Tien/Lui (PWM tiến/lùi); ReTrai/RePhai (Vận tốc vi sai 2 bánh); TamDung (Ngắt động cơ khẩn cấp); KhoiDong (Sẵn sàng nhận lệnh).</a:t>
            </a:r>
          </a:p>
          <a:p>
            <a:pPr>
              <a:spcAft>
                <a:spcPts val="800"/>
              </a:spcAft>
              <a:defRPr sz="1100">
                <a:solidFill>
                  <a:srgbClr val="0F172A"/>
                </a:solidFill>
                <a:latin typeface="Calibri"/>
              </a:defRPr>
            </a:pPr>
            <a:r>
              <a:t>• Cơ chế an toàn: Khi nhận nhãn KhongXacDinh, hệ thống giữ nguyên trạng thái an toàn hiện tại.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0284C7"/>
                </a:solidFill>
                <a:latin typeface="Calibri"/>
              </a:defRPr>
            </a:pPr>
            <a:r>
              <a:t>CONCLUSION &amp; ROADMAP</a:t>
            </a:r>
          </a:p>
        </p:txBody>
      </p:sp>
      <p:sp>
        <p:nvSpPr>
          <p:cNvPr id="3" name="TextBox 2"/>
          <p:cNvSpPr txBox="1"/>
          <p:nvPr/>
        </p:nvSpPr>
        <p:spPr>
          <a:xfrm>
            <a:off x="731520" y="658368"/>
            <a:ext cx="10698480" cy="548640"/>
          </a:xfrm>
          <a:prstGeom prst="rect">
            <a:avLst/>
          </a:prstGeom>
          <a:noFill/>
        </p:spPr>
        <p:txBody>
          <a:bodyPr wrap="square" lIns="0" rIns="0" tIns="0" bIns="0">
            <a:spAutoFit/>
          </a:bodyPr>
          <a:lstStyle/>
          <a:p>
            <a:pPr>
              <a:defRPr sz="2200" b="1">
                <a:solidFill>
                  <a:srgbClr val="0F172A"/>
                </a:solidFill>
                <a:latin typeface="Arial"/>
              </a:defRPr>
            </a:pPr>
            <a:r>
              <a:t>Tổng Kết Đóng Góp &amp; Kế Hoạch Nghiên Cứu Cuối Kỳ</a:t>
            </a:r>
          </a:p>
        </p:txBody>
      </p:sp>
      <p:sp>
        <p:nvSpPr>
          <p:cNvPr id="4" name="TextBox 3"/>
          <p:cNvSpPr txBox="1"/>
          <p:nvPr/>
        </p:nvSpPr>
        <p:spPr>
          <a:xfrm>
            <a:off x="731520" y="1207008"/>
            <a:ext cx="10698480" cy="320040"/>
          </a:xfrm>
          <a:prstGeom prst="rect">
            <a:avLst/>
          </a:prstGeom>
          <a:noFill/>
        </p:spPr>
        <p:txBody>
          <a:bodyPr wrap="square" lIns="0" rIns="0" tIns="0" bIns="0">
            <a:spAutoFit/>
          </a:bodyPr>
          <a:lstStyle/>
          <a:p>
            <a:pPr>
              <a:defRPr sz="1300">
                <a:solidFill>
                  <a:srgbClr val="64748B"/>
                </a:solidFill>
                <a:latin typeface="Calibri"/>
              </a:defRPr>
            </a:pPr>
            <a:r>
              <a:t>Khẳng định kết quả đạt được và định hướng hoàn thiện hệ thống thực tế hoàn chỉnh</a:t>
            </a:r>
          </a:p>
        </p:txBody>
      </p:sp>
      <p:sp>
        <p:nvSpPr>
          <p:cNvPr id="5" name="Rounded Rectangle 4"/>
          <p:cNvSpPr/>
          <p:nvPr/>
        </p:nvSpPr>
        <p:spPr>
          <a:xfrm>
            <a:off x="731520" y="1645920"/>
            <a:ext cx="5120640"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4297680"/>
          </a:xfrm>
          <a:prstGeom prst="rect">
            <a:avLst/>
          </a:prstGeom>
          <a:noFill/>
        </p:spPr>
        <p:txBody>
          <a:bodyPr wrap="square">
            <a:spAutoFit/>
          </a:bodyPr>
          <a:lstStyle/>
          <a:p>
            <a:pPr>
              <a:spcAft>
                <a:spcPts val="1200"/>
              </a:spcAft>
              <a:defRPr sz="1400" b="1">
                <a:solidFill>
                  <a:srgbClr val="1E3A8A"/>
                </a:solidFill>
                <a:latin typeface="Arial"/>
              </a:defRPr>
            </a:pPr>
            <a:r>
              <a:t>CÁC ĐÓNG GÓP KHOA HỌC CỐT LÕI</a:t>
            </a:r>
          </a:p>
          <a:p>
            <a:pPr>
              <a:spcAft>
                <a:spcPts val="800"/>
              </a:spcAft>
              <a:defRPr sz="1100" b="1">
                <a:solidFill>
                  <a:srgbClr val="10B981"/>
                </a:solidFill>
                <a:latin typeface="Arial"/>
              </a:defRPr>
            </a:pPr>
            <a:r>
              <a:t>✓ Xây dựng thành công Pipeline hoàn chỉnh from-scratch: </a:t>
            </a:r>
            <a:r>
              <a:rPr sz="1100">
                <a:solidFill>
                  <a:srgbClr val="0F172A"/>
                </a:solidFill>
                <a:latin typeface="Calibri"/>
              </a:rPr>
              <a:t>Tự lập trình toàn bộ quy trình từ chuẩn hóa âm thanh, trích xuất đặc trưng phổ, thiết kế mô hình đến giải thích XAI trên PyTorch.</a:t>
            </a:r>
          </a:p>
          <a:p>
            <a:pPr>
              <a:spcAft>
                <a:spcPts val="800"/>
              </a:spcAft>
              <a:defRPr sz="1100" b="1">
                <a:solidFill>
                  <a:srgbClr val="10B981"/>
                </a:solidFill>
                <a:latin typeface="Arial"/>
              </a:defRPr>
            </a:pPr>
            <a:r>
              <a:t>✓ Bộ dữ liệu chuẩn Data_1400 độc bản 100%: </a:t>
            </a:r>
            <a:r>
              <a:rPr sz="1100">
                <a:solidFill>
                  <a:srgbClr val="0F172A"/>
                </a:solidFill>
                <a:latin typeface="Calibri"/>
              </a:rPr>
              <a:t>Khắc phục triệt để lỗi rò rỉ dữ liệu cũ, đảm bảo tính khách quan và tin cậy cao nhất cho nghiên cứu khoa học.</a:t>
            </a:r>
          </a:p>
          <a:p>
            <a:pPr>
              <a:spcAft>
                <a:spcPts val="800"/>
              </a:spcAft>
              <a:defRPr sz="1100" b="1">
                <a:solidFill>
                  <a:srgbClr val="10B981"/>
                </a:solidFill>
                <a:latin typeface="Arial"/>
              </a:defRPr>
            </a:pPr>
            <a:r>
              <a:t>✓ Đột phá kiến trúc SE_VoiceResNet: </a:t>
            </a:r>
            <a:r>
              <a:rPr sz="1100">
                <a:solidFill>
                  <a:srgbClr val="0F172A"/>
                </a:solidFill>
                <a:latin typeface="Calibri"/>
              </a:rPr>
              <a:t>Cắt giảm 84.05% tham số (310K params), đạt độ trễ 5.48 ms, đạt Test Accuracy 100% và Test Loss thấp nhất (0.4826).</a:t>
            </a:r>
          </a:p>
          <a:p>
            <a:pPr>
              <a:spcAft>
                <a:spcPts val="800"/>
              </a:spcAft>
              <a:defRPr sz="1100" b="1">
                <a:solidFill>
                  <a:srgbClr val="10B981"/>
                </a:solidFill>
                <a:latin typeface="Arial"/>
              </a:defRPr>
            </a:pPr>
            <a:r>
              <a:t>✓ Minh bạch hộp đen AI với Grad-CAM: </a:t>
            </a:r>
            <a:r>
              <a:rPr sz="1100">
                <a:solidFill>
                  <a:srgbClr val="0F172A"/>
                </a:solidFill>
                <a:latin typeface="Calibri"/>
              </a:rPr>
              <a:t>Giải thích cơ chế lắng nghe dải Formant giọng nói và triệt tiêu năng lượng tạp âm môi trường.</a:t>
            </a:r>
          </a:p>
        </p:txBody>
      </p:sp>
      <p:sp>
        <p:nvSpPr>
          <p:cNvPr id="7" name="Rounded Rectangle 6"/>
          <p:cNvSpPr/>
          <p:nvPr/>
        </p:nvSpPr>
        <p:spPr>
          <a:xfrm>
            <a:off x="6217920" y="1645920"/>
            <a:ext cx="5242255"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93615" cy="4297680"/>
          </a:xfrm>
          <a:prstGeom prst="rect">
            <a:avLst/>
          </a:prstGeom>
          <a:noFill/>
        </p:spPr>
        <p:txBody>
          <a:bodyPr wrap="square">
            <a:spAutoFit/>
          </a:bodyPr>
          <a:lstStyle/>
          <a:p>
            <a:pPr>
              <a:spcAft>
                <a:spcPts val="1200"/>
              </a:spcAft>
              <a:defRPr sz="1400" b="1">
                <a:solidFill>
                  <a:srgbClr val="1E3A8A"/>
                </a:solidFill>
                <a:latin typeface="Arial"/>
              </a:defRPr>
            </a:pPr>
            <a:r>
              <a:t>LỘ TRÌNH PHÁT TRIỂN GIAI ĐOẠN CUỐI KỲ</a:t>
            </a:r>
          </a:p>
          <a:p>
            <a:pPr>
              <a:spcAft>
                <a:spcPts val="800"/>
              </a:spcAft>
              <a:defRPr sz="1100" b="1">
                <a:solidFill>
                  <a:srgbClr val="0284C7"/>
                </a:solidFill>
                <a:latin typeface="Arial"/>
              </a:defRPr>
            </a:pPr>
            <a:r>
              <a:t>➔ 1. Thu thập dữ liệu thực địa đa môi trường (Field Stress-Test): </a:t>
            </a:r>
            <a:r>
              <a:rPr sz="1100">
                <a:solidFill>
                  <a:srgbClr val="0F172A"/>
                </a:solidFill>
                <a:latin typeface="Calibri"/>
              </a:rPr>
              <a:t>Mở rộng ghi âm bổ sung trong điều kiện tiếng ồn động cơ di chuyển, quạt gió và hội trường với tỷ số SNR suy giảm (10 dB, 5 dB, 0 dB) để phát huy tối đa ưu thế của khối SE.</a:t>
            </a:r>
          </a:p>
          <a:p>
            <a:pPr>
              <a:spcAft>
                <a:spcPts val="800"/>
              </a:spcAft>
              <a:defRPr sz="1100" b="1">
                <a:solidFill>
                  <a:srgbClr val="0284C7"/>
                </a:solidFill>
                <a:latin typeface="Arial"/>
              </a:defRPr>
            </a:pPr>
            <a:r>
              <a:t>➔ 2. Triển khai phần mềm thời gian thực (Real-time VAD Engine): </a:t>
            </a:r>
            <a:r>
              <a:rPr sz="1100">
                <a:solidFill>
                  <a:srgbClr val="0F172A"/>
                </a:solidFill>
                <a:latin typeface="Calibri"/>
              </a:rPr>
              <a:t>Hoàn thiện module đọc microphone liên tục đa luồng (multithreading) bằng PyAudio kết hợp Silero VAD trên Raspberry Pi 4.</a:t>
            </a:r>
          </a:p>
          <a:p>
            <a:pPr>
              <a:spcAft>
                <a:spcPts val="800"/>
              </a:spcAft>
              <a:defRPr sz="1100" b="1">
                <a:solidFill>
                  <a:srgbClr val="0284C7"/>
                </a:solidFill>
                <a:latin typeface="Arial"/>
              </a:defRPr>
            </a:pPr>
            <a:r>
              <a:t>➔ 3. Lượng tử hóa INT8 &amp; Tối ưu hóa TensorRT / ONNX: </a:t>
            </a:r>
            <a:r>
              <a:rPr sz="1100">
                <a:solidFill>
                  <a:srgbClr val="0F172A"/>
                </a:solidFill>
                <a:latin typeface="Calibri"/>
              </a:rPr>
              <a:t>Biên dịch mô hình sang định dạng ONNX Runtime và lượng tử hóa INT8 để ép độ trễ suy luận xuống dưới 2.5 ms.</a:t>
            </a:r>
          </a:p>
          <a:p>
            <a:pPr>
              <a:spcAft>
                <a:spcPts val="800"/>
              </a:spcAft>
              <a:defRPr sz="1100" b="1">
                <a:solidFill>
                  <a:srgbClr val="0284C7"/>
                </a:solidFill>
                <a:latin typeface="Arial"/>
              </a:defRPr>
            </a:pPr>
            <a:r>
              <a:t>➔ 4. Tích hợp phần cứng Robot hoàn chỉnh: </a:t>
            </a:r>
            <a:r>
              <a:rPr sz="1100">
                <a:solidFill>
                  <a:srgbClr val="0F172A"/>
                </a:solidFill>
                <a:latin typeface="Calibri"/>
              </a:rPr>
              <a:t>Gắn micro định hướng, kết nối máy tính nhúng với vi điều khiển STM32 và mạch cầu H, vận hành thử nghiệm robot di chuyển ngoài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