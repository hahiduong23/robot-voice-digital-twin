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59E0B"/>
                </a:solidFill>
              </a:defRPr>
            </a:pPr>
            <a:r>
              <a:t>ADVANCED DEEP LEARNING • FINAL TERM PROJECT DEFENSE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</a:defRPr>
            </a:pPr>
            <a:r>
              <a:t>SOTA Broadcasted Residual Network (BC-ResNet)</a:t>
            </a:r>
            <a:br/>
            <a:r>
              <a:t>for Mobile Robot Edge Keyword Spotting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End-to-End Pipeline: Acoustic Preprocessing, SpecAugment, Frequency-Separable Convolutions,</a:t>
            </a:r>
            <a:br/>
            <a:r>
              <a:t>Broadcast Attention, Label Smoothing, and WebAssembly / BLE Edge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Student: Nguyen Hai Duong   |   Student ID: 23011418   |   Dataset: Data_FN (2,900 Standardized WAVs)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846320"/>
            <a:ext cx="24688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</a:defRPr>
            </a:pPr>
            <a:r>
              <a:t>TEST ACCURACY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100.00%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290 / 290 Unseen Samples Correct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846320"/>
            <a:ext cx="24688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49377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2563EB"/>
                </a:solidFill>
              </a:defRPr>
            </a:pPr>
            <a:r>
              <a:t>PARAMETERS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157.4 K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49.3% Smaller than Midterm M5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846320"/>
            <a:ext cx="24688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9377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59E0B"/>
                </a:solidFill>
              </a:defRPr>
            </a:pPr>
            <a:r>
              <a:t>CPU INFERENCE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4.84 ms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Real-Time on Raspberry Pi / Web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846320"/>
            <a:ext cx="2468880" cy="13716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493776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A855F7"/>
                </a:solidFill>
              </a:defRPr>
            </a:pPr>
            <a:r>
              <a:t>STANDALONE ONNX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617 KB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Opset 17 WebAssembly Deploy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0: GLOBAL ARCHITECTURE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End-to-End System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From 16 kHz Audio Capture to Acoustic Preprocessing, BC-ResNet Inference, and BLE Robot Kinematics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• 1. Acoustic Ingestion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16,000 Hz, 16-bit Mono PCM WAV audio.</a:t>
            </a:r>
            <a:br/>
            <a:r>
              <a:t>Symmetric 2.0s Center-Pad eliminates phoneme clipping.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2. Log-Mel Features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128 mel frequency bins × 63 time frames.</a:t>
            </a:r>
            <a:br/>
            <a:r>
              <a:t>Extracts rich vocal formant structures.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3. Data Augmentation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Google Brain SpecAugment (p=0.8, F=16, T=12).</a:t>
            </a:r>
            <a:br/>
            <a:r>
              <a:t>Applied only during training (zero leakage).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4. SOTA BC-ResNet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4 stages of Broadcasted Residual Blocks.</a:t>
            </a:r>
            <a:br/>
            <a:r>
              <a:t>Cuts parameters down to 157K with 4.78 ms latency.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• 5. Edge &amp; Robotics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Exported standalone ONNX model (617 KB).</a:t>
            </a:r>
            <a:br/>
            <a:r>
              <a:t>Deploys via WebAssembly and BLE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713232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_BC_ResN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11680"/>
            <a:ext cx="6858000" cy="27190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1 &amp; 2: SIGNAL CONDITIONING &amp; AUGMENTATION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Standardized 2.0s Audio Waveforms &amp; SpecAugment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Ensuring Uniform Temporal Alignments and Frequency-Time Invariant Representations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udio_pipeline_specaug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83080"/>
            <a:ext cx="10424160" cy="30536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9377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Symmetric Center-Padding (Eq. 1): Standardizes all variable-duration speech recordings into exactly 32,000 samples (2.0s at 16 kHz), preventing prefix or suffix syllable loss.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Log Mel-Spectrogram (Eq. 2-3): Transforms raw waveforms into 128 Mel frequency bins × 63 time frames using STFT with Hann window (N_FFT=1024, Hop=512).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SpecAugment (p=0.8): Applies stochastic Frequency Masking (F=16) and Time Masking (T=12) on training batches; strictly disabled on validation and testing.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3: DEEP NEURAL NETWORK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BC-ResNet: Qualcomm Broadcasted Residual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Ultra-Compact 157K Parameter Model Designed for Micro-Edge &amp; Real-Time Embedded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_BC_ResN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10424160" cy="413301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Stem Layer: Conv2d (3×3, stride 1) with 32 filters + BatchNorm2d + ReLU, producing an initial acoustic feature map of shape (32, 128, 63).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4 Residual Stages: Sequentially processes features with channel expansion (32 → 64 → 128 → 128) and frequency/temporal decimation (strides of 2 in Stages 2 &amp; 3).</a:t>
            </a:r>
          </a:p>
          <a:p>
            <a:pPr>
              <a:spcAft>
                <a:spcPts val="300"/>
              </a:spcAft>
              <a:defRPr sz="1000">
                <a:solidFill>
                  <a:srgbClr val="0F172A"/>
                </a:solidFill>
              </a:defRPr>
            </a:pPr>
            <a:r>
              <a:t>• Head: Global Average Pooling (GAP) reduces spatial dimensions to a 128-d vector, followed by Dropout (p=0.15) and a Linear classifier (128 → 7 classes).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3 DEEP DIVE: BROADCAST RESIDUAL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Internal Mechanism of the BC-ResBlock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Frequency-wise Separable Convolutions Coupled with Broadcast Frequency Attention (BFA)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rch_BC_ResBlock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28800"/>
            <a:ext cx="10424160" cy="3678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9377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Frequency-wise Separable Convolution: Uses a 3×1 1D Depthwise Conv along frequency bins (groups=C) followed by a 1×1 Pointwise Conv, drastically cutting FLOPs.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Broadcast Frequency Attention (BFA): Average pools across frequency bins (dim=2) to produce z in R^(C' x 1 x T), applies 1×1 Conv + BN + Sigmoid to compute attention s_t.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✔ Broadcast Modulation: The temporal attention weights s_t in [0, 1] are broadcast-multiplied along the frequency axis F, dynamically recalibrating time-dependent phoneme bursts.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4: OPTIMIZATION &amp; REGULARIZATION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Label Smoothing Cross-Entropy &amp; Cosine Annealing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Preventing Overconfidence &amp; Ensuring Smooth Convergence in Low-Resource Edge Regimes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ptimization_loss_lr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10149840" cy="3947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4: MODEL BENCHMARKING &amp; PARETO TRADE-OFF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Architectural Evolution from Midterm to Final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Empirical Demonstration: BC-ResNet Dominates the Pareto Optimal Frontier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enchmark_pareto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83080"/>
            <a:ext cx="10332720" cy="3984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4: DIAGNOSTIC PERFORMANCE ON TEST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Precision, Recall, F1-Score Breakdown &amp; ROC-AUC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Rigorous Evaluation on 290 Completely Unseen Multi-Speaker Recordings (Data_FN)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trics_classification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6675120" cy="26494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645920"/>
            <a:ext cx="365760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nfusion_matrix_bc_res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28800"/>
            <a:ext cx="3474720" cy="30724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4: EXPLAINABLE AI (XAI) VIA GRAD-CAM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Acoustic Phoneme Localization &amp; Decision 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Validating that the Network Relies on Authentic Vocal Formants Rather than Ambient Background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radcam_KhoiDo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074920" cy="18081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1645920"/>
            <a:ext cx="525780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gradcam_Ti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37360"/>
            <a:ext cx="5074920" cy="18896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3977639"/>
            <a:ext cx="525780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radcam_TamDu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69079"/>
            <a:ext cx="5074920" cy="181534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172200" y="3977639"/>
            <a:ext cx="5257800" cy="21945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radcam_KhongXacDin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069079"/>
            <a:ext cx="5074920" cy="17249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STAGE 5: LATENT SPACE REPRESENTATION &amp; EDGE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Unsupervised Manifold Clustering &amp; Live Robot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Translating SOTA Deep Learning into a Full-Stack Edge &amp; WebAssembly Digital Twin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tent_space_tsne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6675120" cy="286801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0" y="1645920"/>
            <a:ext cx="3657600" cy="46634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82880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59E0B"/>
                </a:solidFill>
              </a:defRPr>
            </a:pPr>
            <a:r>
              <a:t>EDGE &amp; WEB DEPLOYMENT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✔ ONNX Model Optimization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Exported standalone ONNX model (Opset 17) with dynamic batching. File size: 617 KB.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✔ WebAssembly In-Browser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Zero-server, clientside inference via onnxruntime-web running directly on Chrome/Safari at 4.78 ms.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✔ ESP32 BLE Robot Telemetry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Commands mapped directly into Bluetooth Low Energy motor state machine (FWD, REV, LEFT, RIGHT, STOP).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✔ Live Interactive Dashboard</a:t>
            </a:r>
          </a:p>
          <a:p>
            <a:pPr>
              <a:spcAft>
                <a:spcPts val="800"/>
              </a:spcAft>
              <a:defRPr sz="900">
                <a:solidFill>
                  <a:srgbClr val="94A3B8"/>
                </a:solidFill>
              </a:defRPr>
            </a:pPr>
            <a:r>
              <a:t>Hosted globally on GitHub Pages with Push-to-Talk and live audio visualizers.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