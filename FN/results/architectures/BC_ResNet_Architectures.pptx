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02C57"/>
                </a:solidFill>
              </a:defRPr>
            </a:pPr>
            <a:r>
              <a:t>Figure: Qualcomm SOTA BC-ResNet Architecture (Keyword Spotting)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157,415 Parameters (~157K)  |  FLOPs: 11.20 M  |  CPU Latency: 4.78 ms  |  Trained on Data_FN (2,800 Samples)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325880" cy="4206240"/>
          </a:xfrm>
          <a:prstGeom prst="roundRect">
            <a:avLst/>
          </a:prstGeom>
          <a:solidFill>
            <a:srgbClr val="F5A623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000000"/>
                </a:solidFill>
              </a:defRPr>
            </a:pPr>
            <a:r>
              <a:t>Input Signal</a:t>
            </a:r>
          </a:p>
          <a:p>
            <a:pPr algn="ctr">
              <a:defRPr sz="800">
                <a:solidFill>
                  <a:srgbClr val="000000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000000"/>
                </a:solidFill>
              </a:defRPr>
            </a:pPr>
            <a:r>
              <a:t>Mel-Spectrogram</a:t>
            </a:r>
          </a:p>
          <a:p>
            <a:pPr algn="ctr">
              <a:defRPr sz="950" b="0">
                <a:solidFill>
                  <a:srgbClr val="000000"/>
                </a:solidFill>
              </a:defRPr>
            </a:pPr>
            <a:r>
              <a:t>1 × 128 × 63</a:t>
            </a:r>
          </a:p>
          <a:p>
            <a:pPr algn="ctr">
              <a:defRPr sz="950" b="0">
                <a:solidFill>
                  <a:srgbClr val="000000"/>
                </a:solidFill>
              </a:defRPr>
            </a:pPr>
            <a:r>
              <a:t>(2.0s @ 16kHz)</a:t>
            </a:r>
          </a:p>
          <a:p>
            <a:pPr algn="ctr">
              <a:defRPr sz="950" b="0">
                <a:solidFill>
                  <a:srgbClr val="000000"/>
                </a:solidFill>
              </a:defRPr>
            </a:pPr>
            <a:r>
              <a:t>128 Mel Bins</a:t>
            </a:r>
          </a:p>
          <a:p>
            <a:pPr algn="ctr">
              <a:defRPr sz="950" b="0">
                <a:solidFill>
                  <a:srgbClr val="000000"/>
                </a:solidFill>
              </a:defRPr>
            </a:pPr>
            <a:r>
              <a:t>63 Time Frames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371600"/>
            <a:ext cx="1325880" cy="4206240"/>
          </a:xfrm>
          <a:prstGeom prst="roundRect">
            <a:avLst/>
          </a:prstGeom>
          <a:solidFill>
            <a:srgbClr val="27AE60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Stem Layer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Conv2d (3×3)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Stride = 1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BatchNorm2d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ReLU Activation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Out: 32×128×63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Params: 320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371600"/>
            <a:ext cx="1417320" cy="4206240"/>
          </a:xfrm>
          <a:prstGeom prst="roundRect">
            <a:avLst/>
          </a:prstGeom>
          <a:solidFill>
            <a:srgbClr val="4A90E2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Stage 1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BCResBlock (32)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FreqConv (3×1)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Pointwise (1×1)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Broadcast Attn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Identity Shortcut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Out: 32×128×63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71600"/>
            <a:ext cx="1417320" cy="4206240"/>
          </a:xfrm>
          <a:prstGeom prst="roundRect">
            <a:avLst/>
          </a:prstGeom>
          <a:solidFill>
            <a:srgbClr val="4A90E2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Stage 2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BCResBlock (64)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FreqConv (3×1)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Stride = 2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Broadcast Attn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Proj Shortcut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Out: 64×64×32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1371600"/>
            <a:ext cx="1417320" cy="4206240"/>
          </a:xfrm>
          <a:prstGeom prst="roundRect">
            <a:avLst/>
          </a:prstGeom>
          <a:solidFill>
            <a:srgbClr val="4A90E2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Stage 3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BCResBlock (128)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FreqConv (3×1)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Stride = 2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Broadcast Attn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Proj Shortcut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Out: 128×32×16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1371600"/>
            <a:ext cx="1417320" cy="4206240"/>
          </a:xfrm>
          <a:prstGeom prst="roundRect">
            <a:avLst/>
          </a:prstGeom>
          <a:solidFill>
            <a:srgbClr val="4A90E2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Stage 4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BCResBlock (128)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FreqConv (3×1)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Stride = 1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Broadcast Attn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Identity Shortcut</a:t>
            </a:r>
          </a:p>
          <a:p>
            <a:pPr algn="ctr">
              <a:defRPr sz="950" b="1">
                <a:solidFill>
                  <a:srgbClr val="FFFFFF"/>
                </a:solidFill>
              </a:defRPr>
            </a:pPr>
            <a:r>
              <a:t>Out: 128×32×16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24160" y="1371600"/>
            <a:ext cx="1325880" cy="4206240"/>
          </a:xfrm>
          <a:prstGeom prst="roundRect">
            <a:avLst/>
          </a:prstGeom>
          <a:solidFill>
            <a:srgbClr val="6A1B9A"/>
          </a:solidFill>
          <a:ln w="19050"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73152" rIns="73152"/>
          <a:lstStyle/>
          <a:p>
            <a:pPr algn="ctr">
              <a:defRPr b="1" sz="1200">
                <a:solidFill>
                  <a:srgbClr val="FFFFFF"/>
                </a:solidFill>
              </a:defRPr>
            </a:pPr>
            <a:r>
              <a:t>Classifier Head</a:t>
            </a:r>
          </a:p>
          <a:p>
            <a:pPr algn="ctr">
              <a:defRPr sz="800">
                <a:solidFill>
                  <a:srgbClr val="FFFFFF"/>
                </a:solidFill>
              </a:defRPr>
            </a:pPr>
            <a:r>
              <a:t>─────────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Global Avg Pool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128-d Vector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Dropout (p=0.15)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Dense (128→7)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Softmax Output</a:t>
            </a:r>
          </a:p>
          <a:p>
            <a:pPr algn="ctr">
              <a:defRPr sz="950" b="0">
                <a:solidFill>
                  <a:srgbClr val="FFFFFF"/>
                </a:solidFill>
              </a:defRPr>
            </a:pPr>
            <a:r>
              <a:t>7 Command Classes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075688" y="3337560"/>
            <a:ext cx="192023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630168" y="3337560"/>
            <a:ext cx="192024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276088" y="3337560"/>
            <a:ext cx="192024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22007" y="3337560"/>
            <a:ext cx="192024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8567928" y="3337560"/>
            <a:ext cx="192024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0213848" y="3337560"/>
            <a:ext cx="192024" cy="27432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76072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4748B"/>
                </a:solidFill>
              </a:defRPr>
            </a:pPr>
            <a:r>
              <a:t>Editable PowerPoint Elements: All blocks, labels, and tensor shapes can be directly moved, restyled, or edited in Microsoft PowerPoint.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000">
                <a:solidFill>
                  <a:srgbClr val="102C57"/>
                </a:solidFill>
              </a:defRPr>
            </a:pPr>
            <a:r>
              <a:t>Figure: Detailed Architecture of Broadcasted Residual Block (BC-ResBlock)</a:t>
            </a:r>
          </a:p>
          <a:p>
            <a:pPr>
              <a:defRPr sz="1200">
                <a:solidFill>
                  <a:srgbClr val="475569"/>
                </a:solidFill>
              </a:defRPr>
            </a:pPr>
            <a:r>
              <a:t>Coupling Frequency-wise Separable Convolution with 1D Broadcasted Frequency Attention (BFA)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926080"/>
            <a:ext cx="1645920" cy="1097280"/>
          </a:xfrm>
          <a:prstGeom prst="roundRect">
            <a:avLst/>
          </a:prstGeom>
          <a:solidFill>
            <a:srgbClr val="F5A623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000000"/>
                </a:solidFill>
              </a:defRPr>
            </a:pPr>
            <a:r>
              <a:t>Input Tensor</a:t>
            </a:r>
            <a:br/>
            <a:r>
              <a:t>X ∈ R^(C × F × 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08960" y="1645920"/>
            <a:ext cx="2011680" cy="1280160"/>
          </a:xfrm>
          <a:prstGeom prst="roundRect">
            <a:avLst/>
          </a:prstGeom>
          <a:solidFill>
            <a:srgbClr val="4A90E2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Frequency Conv</a:t>
            </a:r>
            <a:br/>
            <a:r>
              <a:t>3 × 1 Kernel (Groups=C)</a:t>
            </a:r>
            <a:br/>
            <a:r>
              <a:t>+ BN1 + ReLU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0" y="1645920"/>
            <a:ext cx="1920240" cy="1280160"/>
          </a:xfrm>
          <a:prstGeom prst="roundRect">
            <a:avLst/>
          </a:prstGeom>
          <a:solidFill>
            <a:srgbClr val="4A90E2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Pointwise Conv</a:t>
            </a:r>
            <a:br/>
            <a:r>
              <a:t>1 × 1 Conv (C → C')</a:t>
            </a:r>
            <a:br/>
            <a:r>
              <a:t>+ BN2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3474720"/>
            <a:ext cx="4480560" cy="1463040"/>
          </a:xfrm>
          <a:prstGeom prst="roundRect">
            <a:avLst/>
          </a:prstGeom>
          <a:solidFill>
            <a:srgbClr val="FFFBF5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91840" y="3749039"/>
            <a:ext cx="4114800" cy="1005840"/>
          </a:xfrm>
          <a:prstGeom prst="roundRect">
            <a:avLst/>
          </a:prstGeom>
          <a:solidFill>
            <a:srgbClr val="00838F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FFFFFF"/>
                </a:solidFill>
              </a:defRPr>
            </a:pPr>
            <a:r>
              <a:t>Broadcast Frequency Attention (BFA)</a:t>
            </a:r>
            <a:br/>
            <a:r>
              <a:t>AvgPool across Frequency (dim=2) → 1×1 Conv + BN + Sigmoid</a:t>
            </a:r>
            <a:br/>
            <a:r>
              <a:t>Output: [C', 1, T] → Broadcasted across F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011680"/>
            <a:ext cx="594360" cy="594360"/>
          </a:xfrm>
          <a:prstGeom prst="ellipse">
            <a:avLst/>
          </a:prstGeom>
          <a:solidFill>
            <a:srgbClr val="F5A623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/>
            </a:pPr>
            <a:r>
              <a:t>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5303520"/>
            <a:ext cx="4480560" cy="914400"/>
          </a:xfrm>
          <a:prstGeom prst="roundRect">
            <a:avLst/>
          </a:prstGeom>
          <a:solidFill>
            <a:srgbClr val="64748B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FFFFFF"/>
                </a:solidFill>
              </a:defRPr>
            </a:pPr>
            <a:r>
              <a:t>Residual Shortcut</a:t>
            </a:r>
            <a:br/>
            <a:r>
              <a:t>Identity (s=1, C=C')  or  Conv 1×1 + BN (s&gt;1 or C≠C')</a:t>
            </a:r>
          </a:p>
        </p:txBody>
      </p:sp>
      <p:sp>
        <p:nvSpPr>
          <p:cNvPr id="10" name="Oval 9"/>
          <p:cNvSpPr/>
          <p:nvPr/>
        </p:nvSpPr>
        <p:spPr>
          <a:xfrm>
            <a:off x="9418320" y="3200400"/>
            <a:ext cx="640080" cy="640080"/>
          </a:xfrm>
          <a:prstGeom prst="ellipse">
            <a:avLst/>
          </a:prstGeom>
          <a:solidFill>
            <a:srgbClr val="27AE60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FFFFFF"/>
                </a:solidFill>
              </a:defRPr>
            </a:pPr>
            <a:r>
              <a:t>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424160" y="2926080"/>
            <a:ext cx="1371600" cy="1188720"/>
          </a:xfrm>
          <a:prstGeom prst="roundRect">
            <a:avLst/>
          </a:prstGeom>
          <a:solidFill>
            <a:srgbClr val="6A1B9A"/>
          </a:solidFill>
          <a:ln>
            <a:solidFill>
              <a:srgbClr val="1A25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50">
                <a:solidFill>
                  <a:srgbClr val="FFFFFF"/>
                </a:solidFill>
              </a:defRPr>
            </a:pPr>
            <a:r>
              <a:t>Calibrated</a:t>
            </a:r>
            <a:br/>
            <a:r>
              <a:t>Output</a:t>
            </a:r>
            <a:br/>
            <a:r>
              <a:t>ReLU(Out + Res)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377440" y="2148840"/>
            <a:ext cx="64008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120640" y="2148840"/>
            <a:ext cx="45720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7589520" y="2148840"/>
            <a:ext cx="54864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8823960" y="2560320"/>
            <a:ext cx="54864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589520" y="5577840"/>
            <a:ext cx="173736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10058400" y="3383280"/>
            <a:ext cx="320040" cy="228600"/>
          </a:xfrm>
          <a:prstGeom prst="rightArrow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