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02C57"/>
                </a:solidFill>
              </a:defRPr>
            </a:pPr>
            <a:r>
              <a:t>Qualcomm SOTA Broadcasted Residual Network (BC-ResNet)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157,415 Parameters (~157K)  |  FLOPs: 83.41 M  |  CPU Latency: 4.84 ms  |  Trained on Data_FN (2,900 Samples)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280160" cy="1188720"/>
          </a:xfrm>
          <a:prstGeom prst="roundRect">
            <a:avLst/>
          </a:prstGeom>
          <a:solidFill>
            <a:srgbClr val="F5A623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Input Audio</a:t>
            </a:r>
            <a:br/>
            <a:r>
              <a:t>Mel-Spectrogram</a:t>
            </a:r>
            <a:br/>
            <a:r>
              <a:t>(1, 128, 63)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474720"/>
            <a:ext cx="1280160" cy="1188720"/>
          </a:xfrm>
          <a:prstGeom prst="roundRect">
            <a:avLst/>
          </a:prstGeom>
          <a:solidFill>
            <a:srgbClr val="27AE60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Stem Layer</a:t>
            </a:r>
            <a:br/>
            <a:r>
              <a:t>Conv2d (3x3, c=32)</a:t>
            </a:r>
            <a:br/>
            <a:r>
              <a:t>+ BN + ReLU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54480"/>
            <a:ext cx="1645920" cy="39319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0" y="1408176"/>
            <a:ext cx="1463040" cy="292608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F360C"/>
                </a:solidFill>
              </a:defRPr>
            </a:pPr>
            <a:r>
              <a:t>BC-ResBlock 1 (s=1)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8288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Freq-Conv (3x1)</a:t>
            </a:r>
            <a:br/>
            <a:r>
              <a:t>(32 flt, g=32)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7432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Pointwise (1x1)</a:t>
            </a:r>
            <a:br/>
            <a:r>
              <a:t>(32 flt, + BN)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657600"/>
            <a:ext cx="1371600" cy="685800"/>
          </a:xfrm>
          <a:prstGeom prst="roundRect">
            <a:avLst/>
          </a:prstGeom>
          <a:solidFill>
            <a:srgbClr val="D81B60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Broadcast Attn</a:t>
            </a:r>
            <a:br/>
            <a:r>
              <a:t>(BFA Operator)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4572000"/>
            <a:ext cx="1371600" cy="68580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Add [F(x) + x]</a:t>
            </a:r>
            <a:br/>
            <a:r>
              <a:t>+ ReLU (32,128,63)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554480"/>
            <a:ext cx="1645920" cy="39319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1408176"/>
            <a:ext cx="1463040" cy="292608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F360C"/>
                </a:solidFill>
              </a:defRPr>
            </a:pPr>
            <a:r>
              <a:t>BC-ResBlock 2 (s=2)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288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Freq-Conv (3x1)</a:t>
            </a:r>
            <a:br/>
            <a:r>
              <a:t>(64 flt, s=2)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7432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Pointwise (1x1)</a:t>
            </a:r>
            <a:br/>
            <a:r>
              <a:t>(64 flt, + BN)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657600"/>
            <a:ext cx="1371600" cy="685800"/>
          </a:xfrm>
          <a:prstGeom prst="roundRect">
            <a:avLst/>
          </a:prstGeom>
          <a:solidFill>
            <a:srgbClr val="D81B60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Broadcast Attn</a:t>
            </a:r>
            <a:br/>
            <a:r>
              <a:t>(BFA Operator)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4572000"/>
            <a:ext cx="1371600" cy="68580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Add [F(x) + Ws*x]</a:t>
            </a:r>
            <a:br/>
            <a:r>
              <a:t>+ ReLU (64,64,32)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554480"/>
            <a:ext cx="1645920" cy="39319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1408176"/>
            <a:ext cx="1463040" cy="292608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F360C"/>
                </a:solidFill>
              </a:defRPr>
            </a:pPr>
            <a:r>
              <a:t>BC-ResBlock 3 (s=2)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8288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Freq-Conv (3x1)</a:t>
            </a:r>
            <a:br/>
            <a:r>
              <a:t>(128 flt, s=2)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7432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Pointwise (1x1)</a:t>
            </a:r>
            <a:br/>
            <a:r>
              <a:t>(128 flt, + BN)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657600"/>
            <a:ext cx="1371600" cy="685800"/>
          </a:xfrm>
          <a:prstGeom prst="roundRect">
            <a:avLst/>
          </a:prstGeom>
          <a:solidFill>
            <a:srgbClr val="D81B60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Broadcast Attn</a:t>
            </a:r>
            <a:br/>
            <a:r>
              <a:t>(BFA Operator)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572000"/>
            <a:ext cx="1371600" cy="68580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Add [F(x) + Ws*x]</a:t>
            </a:r>
            <a:br/>
            <a:r>
              <a:t>+ ReLU (128,32,16)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554480"/>
            <a:ext cx="1645920" cy="39319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1408176"/>
            <a:ext cx="1463040" cy="292608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F360C"/>
                </a:solidFill>
              </a:defRPr>
            </a:pPr>
            <a:r>
              <a:t>BC-ResBlock 4 (s=1)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8288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Freq-Conv (3x1)</a:t>
            </a:r>
            <a:br/>
            <a:r>
              <a:t>(128 flt, s=1)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743200"/>
            <a:ext cx="1371600" cy="68580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Pointwise (1x1)</a:t>
            </a:r>
            <a:br/>
            <a:r>
              <a:t>(128 flt, + BN)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657600"/>
            <a:ext cx="1371600" cy="685800"/>
          </a:xfrm>
          <a:prstGeom prst="roundRect">
            <a:avLst/>
          </a:prstGeom>
          <a:solidFill>
            <a:srgbClr val="D81B60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Broadcast Attn</a:t>
            </a:r>
            <a:br/>
            <a:r>
              <a:t>(BFA Operator)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572000"/>
            <a:ext cx="1371600" cy="68580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Add [F(x) + x]</a:t>
            </a:r>
            <a:br/>
            <a:r>
              <a:t>+ ReLU (128,32,16)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926080"/>
            <a:ext cx="1005840" cy="118872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Global Avg Pool</a:t>
            </a:r>
            <a:br/>
            <a:r>
              <a:t>AdaptivePool</a:t>
            </a:r>
            <a:br/>
            <a:r>
              <a:t>(128-d)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81360" y="1645920"/>
            <a:ext cx="1005840" cy="914400"/>
          </a:xfrm>
          <a:prstGeom prst="roundRect">
            <a:avLst/>
          </a:prstGeom>
          <a:solidFill>
            <a:srgbClr val="0D233A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Dropout</a:t>
            </a:r>
            <a:br/>
            <a:r>
              <a:t>(p = 0.15)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81360" y="3017520"/>
            <a:ext cx="1005840" cy="1005840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Dense FC</a:t>
            </a:r>
            <a:br/>
            <a:r>
              <a:t>Linear(128→7)</a:t>
            </a:r>
            <a:br/>
            <a:r>
              <a:t>+ Softmax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0" y="4480560"/>
            <a:ext cx="1005840" cy="1005840"/>
          </a:xfrm>
          <a:prstGeom prst="roundRect">
            <a:avLst/>
          </a:prstGeom>
          <a:solidFill>
            <a:srgbClr val="F5A623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Output</a:t>
            </a:r>
            <a:br/>
            <a:r>
              <a:t>(7 Command</a:t>
            </a:r>
            <a:br/>
            <a:r>
              <a:t>Classes)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Native PowerPoint Shapes: All blocks, labels, and text can be freely selected, moved, colored, or edited directly in PowerPoint.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02C57"/>
                </a:solidFill>
              </a:defRPr>
            </a:pPr>
            <a:r>
              <a:t>Detailed Architecture of Broadcasted Residual Block (BC-ResBlock)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Coupling Frequency-wise Separable Convolution with 1D Broadcasted Frequency Attention (BFA)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1371600" cy="109728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Input Tensor</a:t>
            </a:r>
            <a:br/>
            <a:r>
              <a:t>X ∈ R^(C×F×T)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2286000"/>
            <a:ext cx="1371600" cy="109728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Frequency Conv</a:t>
            </a:r>
            <a:br/>
            <a:r>
              <a:t>3×1 (Groups=C)</a:t>
            </a:r>
            <a:br/>
            <a:r>
              <a:t>+ BN1 + ReLU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286000"/>
            <a:ext cx="1371600" cy="1097280"/>
          </a:xfrm>
          <a:prstGeom prst="roundRect">
            <a:avLst/>
          </a:prstGeom>
          <a:solidFill>
            <a:srgbClr val="4A90E2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Pointwise Conv</a:t>
            </a:r>
            <a:br/>
            <a:r>
              <a:t>1×1 (C → C')</a:t>
            </a:r>
            <a:br/>
            <a:r>
              <a:t>+ BN2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645920"/>
            <a:ext cx="4480560" cy="237744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0" y="1499616"/>
            <a:ext cx="4297680" cy="292608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F360C"/>
                </a:solidFill>
              </a:defRPr>
            </a:pPr>
            <a:r>
              <a:t>Broadcasted Frequency Attention (BFA) Operator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1280160" cy="109728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Freq AvgPool (F_avg)</a:t>
            </a:r>
            <a:br/>
            <a:r>
              <a:t>z = (1/F) Σ_f x(f)</a:t>
            </a:r>
            <a:br/>
            <a:r>
              <a:t>z ∈ R^(C'×1×T)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286000"/>
            <a:ext cx="1280160" cy="1097280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1×1 Conv + BN</a:t>
            </a:r>
            <a:br/>
            <a:r>
              <a:t>Channel Mixing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286000"/>
            <a:ext cx="1188720" cy="1097280"/>
          </a:xfrm>
          <a:prstGeom prst="roundRect">
            <a:avLst/>
          </a:prstGeom>
          <a:solidFill>
            <a:srgbClr val="6A1B9A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Sigmoid (σ)</a:t>
            </a:r>
            <a:br/>
            <a:r>
              <a:t>s ∈ [0, 1]^(C'×1×T)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286000"/>
            <a:ext cx="731520" cy="1097280"/>
          </a:xfrm>
          <a:prstGeom prst="roundRect">
            <a:avLst/>
          </a:prstGeom>
          <a:solidFill>
            <a:srgbClr val="D81B60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Scale ⊗</a:t>
            </a:r>
            <a:br/>
            <a:r>
              <a:t>Broadcast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286000"/>
            <a:ext cx="731520" cy="1097280"/>
          </a:xfrm>
          <a:prstGeom prst="roundRect">
            <a:avLst/>
          </a:prstGeom>
          <a:solidFill>
            <a:srgbClr val="F5A623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Output</a:t>
            </a:r>
            <a:br/>
            <a:r>
              <a:t>X_tilde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389120"/>
            <a:ext cx="5029200" cy="822960"/>
          </a:xfrm>
          <a:prstGeom prst="roundRect">
            <a:avLst/>
          </a:prstGeom>
          <a:solidFill>
            <a:srgbClr val="00838F"/>
          </a:solidFill>
          <a:ln w="15240">
            <a:solidFill>
              <a:srgbClr val="1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Residual Shortcut Branch</a:t>
            </a:r>
            <a:br/>
            <a:r>
              <a:t>Identity (s=1)  or  1×1 Conv + BN (s=2)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All mathematical labels and component boxes are fully editable PowerPoint vectors.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